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5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14884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EAF5FB"/>
                </a:solidFill>
                <a:latin typeface="Segoe UI Semibold"/>
              </a:rPr>
              <a:t>FloatChat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5104" y="3429000"/>
            <a:ext cx="82414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D6E6F0"/>
                </a:solidFill>
                <a:latin typeface="Segoe UI"/>
              </a:rPr>
              <a:t>Ask the ocean a question in plain language — get a grounded answer, a live float map, and the exact data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38E3C6"/>
                </a:solidFill>
                <a:latin typeface="Consolas"/>
              </a:rPr>
              <a:t>12,442 profiles   ·   7.9M measurements   ·   5 languages   ·   100% grounded</a:t>
            </a:r>
            <a:r>
              <a:rPr sz="1350" b="0">
                <a:solidFill>
                  <a:srgbClr val="38E3C6"/>
                </a:solidFill>
                <a:latin typeface="Consolas"/>
              </a:rPr>
              <a:t>   ·   PFZ fisheries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7C93AB"/>
                </a:solidFill>
                <a:latin typeface="Consolas"/>
              </a:rPr>
              <a:t>ANALYTICA 2026   ·   PS26-033   ·   MoES / INCOIS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7220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F6BB52"/>
                </a:solidFill>
                <a:latin typeface="Consolas"/>
              </a:rPr>
              <a:t>Team </a:t>
            </a:r>
            <a:r>
              <a:rPr lang="en-US" sz="1300" b="1" dirty="0">
                <a:solidFill>
                  <a:srgbClr val="F6BB52"/>
                </a:solidFill>
                <a:latin typeface="Consolas"/>
              </a:rPr>
              <a:t>E</a:t>
            </a:r>
            <a:r>
              <a:rPr sz="1300" b="1" dirty="0">
                <a:solidFill>
                  <a:srgbClr val="F6BB52"/>
                </a:solidFill>
                <a:latin typeface="Consolas"/>
              </a:rPr>
              <a:t>ntropy   ·   ANL26-028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The data is measured and public — but almost no one can use it.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23113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61081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ARGO</a:t>
            </a:r>
            <a:r>
              <a:rPr sz="1500" b="0">
                <a:solidFill>
                  <a:srgbClr val="AFC6DA"/>
                </a:solidFill>
                <a:latin typeface="Segoe UI"/>
              </a:rPr>
              <a:t> — ~4,000 robotic floats have measured the ocean since 2000, adding 100,000+ profiles a year.</a:t>
            </a:r>
          </a:p>
        </p:txBody>
      </p:sp>
      <p:sp>
        <p:nvSpPr>
          <p:cNvPr id="7" name="Diamond 6"/>
          <p:cNvSpPr/>
          <p:nvPr/>
        </p:nvSpPr>
        <p:spPr>
          <a:xfrm>
            <a:off x="777240" y="3017520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935224"/>
            <a:ext cx="61081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MoES / INCOIS</a:t>
            </a:r>
            <a:r>
              <a:rPr sz="1500" b="0">
                <a:solidFill>
                  <a:srgbClr val="AFC6DA"/>
                </a:solidFill>
                <a:latin typeface="Segoe UI"/>
              </a:rPr>
              <a:t> contribute floats and depend on this data for forecasts, fisheries and climate.</a:t>
            </a:r>
          </a:p>
        </p:txBody>
      </p:sp>
      <p:sp>
        <p:nvSpPr>
          <p:cNvPr id="9" name="Diamond 8"/>
          <p:cNvSpPr/>
          <p:nvPr/>
        </p:nvSpPr>
        <p:spPr>
          <a:xfrm>
            <a:off x="777240" y="3803904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3721608"/>
            <a:ext cx="61081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6BB52"/>
                </a:solidFill>
                <a:latin typeface="Segoe UI"/>
              </a:rPr>
              <a:t>NetCDF</a:t>
            </a:r>
            <a:r>
              <a:rPr sz="1500" b="0">
                <a:solidFill>
                  <a:srgbClr val="AFC6DA"/>
                </a:solidFill>
                <a:latin typeface="Segoe UI"/>
              </a:rPr>
              <a:t> — it ships as specialist files opened only with specialist tools and query knowledge.</a:t>
            </a:r>
          </a:p>
        </p:txBody>
      </p:sp>
      <p:sp>
        <p:nvSpPr>
          <p:cNvPr id="11" name="Diamond 10"/>
          <p:cNvSpPr/>
          <p:nvPr/>
        </p:nvSpPr>
        <p:spPr>
          <a:xfrm>
            <a:off x="777240" y="4590288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4507992"/>
            <a:ext cx="61081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A handful of trained scientists can use it. </a:t>
            </a:r>
            <a:r>
              <a:rPr sz="1500" b="0">
                <a:solidFill>
                  <a:srgbClr val="AFC6DA"/>
                </a:solidFill>
                <a:latin typeface="Segoe UI"/>
              </a:rPr>
              <a:t>Everyone else is locked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148840"/>
            <a:ext cx="3886200" cy="28346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93AB"/>
                </a:solidFill>
                <a:latin typeface="Consolas"/>
              </a:rPr>
              <a:t>THE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889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FC6DA"/>
                </a:solidFill>
                <a:latin typeface="Segoe UI"/>
              </a:rPr>
              <a:t>A researcher today must know NetCDF conventions, QC-flag rules, delayed-mode vs real-time, and pressure-vs-depth — and write extraction code — before a single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4805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F6BB52"/>
                </a:solidFill>
                <a:latin typeface="Consolas"/>
              </a:rPr>
              <a:t>FloatChat removes every one of those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OUR SOLUTION — 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One question in. Answer, map, chart, and the SQL out.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23113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Ask</a:t>
            </a:r>
            <a:r>
              <a:rPr sz="1500" b="0">
                <a:solidFill>
                  <a:srgbClr val="AFC6DA"/>
                </a:solidFill>
                <a:latin typeface="Segoe UI"/>
              </a:rPr>
              <a:t> in English or an Indian language — plain words, no software, no formats.</a:t>
            </a:r>
          </a:p>
        </p:txBody>
      </p:sp>
      <p:sp>
        <p:nvSpPr>
          <p:cNvPr id="7" name="Diamond 6"/>
          <p:cNvSpPr/>
          <p:nvPr/>
        </p:nvSpPr>
        <p:spPr>
          <a:xfrm>
            <a:off x="777240" y="296265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88036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Grounded answer</a:t>
            </a:r>
            <a:r>
              <a:rPr sz="1500" b="0">
                <a:solidFill>
                  <a:srgbClr val="AFC6DA"/>
                </a:solidFill>
                <a:latin typeface="Segoe UI"/>
              </a:rPr>
              <a:t> — one plain sentence; every number comes from a real record.</a:t>
            </a:r>
          </a:p>
        </p:txBody>
      </p:sp>
      <p:sp>
        <p:nvSpPr>
          <p:cNvPr id="9" name="Diamond 8"/>
          <p:cNvSpPr/>
          <p:nvPr/>
        </p:nvSpPr>
        <p:spPr>
          <a:xfrm>
            <a:off x="777240" y="369417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361188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See it</a:t>
            </a:r>
            <a:r>
              <a:rPr sz="1500" b="0">
                <a:solidFill>
                  <a:srgbClr val="AFC6DA"/>
                </a:solidFill>
                <a:latin typeface="Segoe UI"/>
              </a:rPr>
              <a:t> — floats on a live satellite map, a depth or time chart, a table.</a:t>
            </a:r>
          </a:p>
        </p:txBody>
      </p:sp>
      <p:sp>
        <p:nvSpPr>
          <p:cNvPr id="11" name="Diamond 10"/>
          <p:cNvSpPr/>
          <p:nvPr/>
        </p:nvSpPr>
        <p:spPr>
          <a:xfrm>
            <a:off x="777240" y="442569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434340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Trust it</a:t>
            </a:r>
            <a:r>
              <a:rPr sz="1500" b="0">
                <a:solidFill>
                  <a:srgbClr val="AFC6DA"/>
                </a:solidFill>
                <a:latin typeface="Segoe UI"/>
              </a:rPr>
              <a:t> — the exact SQL and source float IDs sit under every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148840"/>
            <a:ext cx="3886200" cy="22860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3591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93AB"/>
                </a:solidFill>
                <a:latin typeface="Consolas"/>
              </a:rPr>
              <a:t>THE PIPELINE, IN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61488"/>
            <a:ext cx="33832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>
                <a:solidFill>
                  <a:srgbClr val="AFC6DA"/>
                </a:solidFill>
                <a:latin typeface="Consolas"/>
              </a:rPr>
              <a:t>ARGO NetCDF → cleaned </a:t>
            </a:r>
            <a:r>
              <a:rPr sz="1250" b="0">
                <a:solidFill>
                  <a:srgbClr val="79B6FF"/>
                </a:solidFill>
                <a:latin typeface="Consolas"/>
              </a:rPr>
              <a:t>PostgreSQL + PostGIS</a:t>
            </a:r>
            <a:r>
              <a:rPr sz="1250" b="0">
                <a:solidFill>
                  <a:srgbClr val="AFC6DA"/>
                </a:solidFill>
                <a:latin typeface="Consolas"/>
              </a:rPr>
              <a:t> → </a:t>
            </a:r>
            <a:r>
              <a:rPr sz="1250" b="0">
                <a:solidFill>
                  <a:srgbClr val="F6BB52"/>
                </a:solidFill>
                <a:latin typeface="Consolas"/>
              </a:rPr>
              <a:t>RAG</a:t>
            </a:r>
            <a:r>
              <a:rPr sz="1250" b="0">
                <a:solidFill>
                  <a:srgbClr val="AFC6DA"/>
                </a:solidFill>
                <a:latin typeface="Consolas"/>
              </a:rPr>
              <a:t> over the schema → </a:t>
            </a:r>
            <a:r>
              <a:rPr sz="1250" b="0">
                <a:solidFill>
                  <a:srgbClr val="38E3C6"/>
                </a:solidFill>
                <a:latin typeface="Consolas"/>
              </a:rPr>
              <a:t>NL→SQL</a:t>
            </a:r>
            <a:r>
              <a:rPr sz="1250" b="0">
                <a:solidFill>
                  <a:srgbClr val="AFC6DA"/>
                </a:solidFill>
                <a:latin typeface="Consolas"/>
              </a:rPr>
              <a:t> → validate + run read-only → map +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1696212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5093207"/>
            <a:ext cx="15133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8  question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19756" y="507492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6060" y="5093207"/>
            <a:ext cx="1033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5  </a:t>
            </a:r>
            <a:r>
              <a:rPr sz="1150" b="0">
                <a:solidFill>
                  <a:srgbClr val="AFC6DA"/>
                </a:solidFill>
                <a:latin typeface="Consolas"/>
              </a:rPr>
              <a:t>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2212" y="507492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28516" y="5093207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AFC6DA"/>
                </a:solidFill>
                <a:latin typeface="Consolas"/>
              </a:rPr>
              <a:t>verified vs gold</a:t>
            </a:r>
          </a:p>
        </p:txBody>
      </p:sp>
      <p:sp>
        <p:nvSpPr>
          <p:cNvPr id="22" name="Rounded Rectangle 15"/>
          <p:cNvSpPr/>
          <p:nvPr/>
        </p:nvSpPr>
        <p:spPr>
          <a:xfrm>
            <a:off x="5920740" y="50749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6"/>
          <p:cNvSpPr txBox="1"/>
          <p:nvPr/>
        </p:nvSpPr>
        <p:spPr>
          <a:xfrm>
            <a:off x="6067044" y="5093207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Fisheries  PFZ · SST · Chl-a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Your question becomes a safe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240280"/>
            <a:ext cx="2834640" cy="82296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38E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0" y="234086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700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React · Leaflet · Plotly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651760"/>
            <a:ext cx="685800" cy="0"/>
          </a:xfrm>
          <a:prstGeom prst="line">
            <a:avLst/>
          </a:prstGeom>
          <a:ln w="17780">
            <a:solidFill>
              <a:srgbClr val="7C93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46520" y="2240280"/>
            <a:ext cx="2834640" cy="82296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38E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34086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00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/chat · /floats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3063240"/>
            <a:ext cx="0" cy="411480"/>
          </a:xfrm>
          <a:prstGeom prst="line">
            <a:avLst/>
          </a:prstGeom>
          <a:ln w="17780">
            <a:solidFill>
              <a:srgbClr val="7C93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52044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F6B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9816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Find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RAG · schema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0440" y="3904488"/>
            <a:ext cx="457199" cy="0"/>
          </a:xfrm>
          <a:prstGeom prst="line">
            <a:avLst/>
          </a:prstGeom>
          <a:ln w="17780">
            <a:solidFill>
              <a:srgbClr val="7C93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3520440"/>
            <a:ext cx="2651760" cy="7772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F6B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3598164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Write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9273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LLM +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3904488"/>
            <a:ext cx="457200" cy="0"/>
          </a:xfrm>
          <a:prstGeom prst="line">
            <a:avLst/>
          </a:prstGeom>
          <a:ln w="17780">
            <a:solidFill>
              <a:srgbClr val="7C93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86600" y="352044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F6B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359816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Check it's 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9273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sqlglot · read-only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4297680"/>
            <a:ext cx="0" cy="411480"/>
          </a:xfrm>
          <a:prstGeom prst="line">
            <a:avLst/>
          </a:prstGeom>
          <a:ln w="17780">
            <a:solidFill>
              <a:srgbClr val="7C93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9120" y="4754880"/>
            <a:ext cx="2743200" cy="82296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79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485546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PostgreSQL + PostGIS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84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the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54880"/>
            <a:ext cx="2743200" cy="82296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38E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85546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EAF5FB"/>
                </a:solidFill>
                <a:latin typeface="Segoe UI Semibold"/>
              </a:rPr>
              <a:t>Answer · map ·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84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grounded · with SQL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566160" y="5166360"/>
            <a:ext cx="822960" cy="0"/>
          </a:xfrm>
          <a:prstGeom prst="line">
            <a:avLst/>
          </a:prstGeom>
          <a:ln w="17780">
            <a:solidFill>
              <a:srgbClr val="38E3C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0" y="5989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7C93AB"/>
                </a:solidFill>
                <a:latin typeface="Consolas"/>
              </a:rPr>
              <a:t>Detect language → retrieve schema (RAG) → write SQL → validate → run read-only →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INSIDE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How a question becomes safe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RAG ·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7752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Assemble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8264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Write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sqlglot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read-only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1488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2276856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38E3C6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1460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AF5FB"/>
                </a:solidFill>
                <a:latin typeface="Segoe UI Semibold"/>
              </a:rPr>
              <a:t>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807208"/>
            <a:ext cx="1700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7C93AB"/>
                </a:solidFill>
                <a:latin typeface="Consolas"/>
              </a:rPr>
              <a:t>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375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1">
                <a:solidFill>
                  <a:srgbClr val="F6BB52"/>
                </a:solidFill>
                <a:latin typeface="Segoe UI"/>
              </a:rPr>
              <a:t>RAG</a:t>
            </a:r>
            <a:r>
              <a:rPr sz="1450" b="0">
                <a:solidFill>
                  <a:srgbClr val="AFC6DA"/>
                </a:solidFill>
                <a:latin typeface="Segoe UI"/>
              </a:rPr>
              <a:t> pulls the relevant schema so the model can only use real tables &amp; columns → the </a:t>
            </a:r>
            <a:r>
              <a:rPr sz="1450" b="1">
                <a:solidFill>
                  <a:srgbClr val="38E3C6"/>
                </a:solidFill>
                <a:latin typeface="Segoe UI"/>
              </a:rPr>
              <a:t>LLM</a:t>
            </a:r>
            <a:r>
              <a:rPr sz="1450" b="0">
                <a:solidFill>
                  <a:srgbClr val="AFC6DA"/>
                </a:solidFill>
                <a:latin typeface="Segoe UI"/>
              </a:rPr>
              <a:t> writes one SQL statement → </a:t>
            </a:r>
            <a:r>
              <a:rPr sz="1450" b="1">
                <a:solidFill>
                  <a:srgbClr val="F6BB52"/>
                </a:solidFill>
                <a:latin typeface="Segoe UI"/>
              </a:rPr>
              <a:t>sqlglot</a:t>
            </a:r>
            <a:r>
              <a:rPr sz="1450" b="0">
                <a:solidFill>
                  <a:srgbClr val="AFC6DA"/>
                </a:solidFill>
                <a:latin typeface="Segoe UI"/>
              </a:rPr>
              <a:t> checks it is a single read-only SELECT → it runs, and the user </a:t>
            </a:r>
            <a:r>
              <a:rPr sz="1450" b="1">
                <a:solidFill>
                  <a:srgbClr val="38E3C6"/>
                </a:solidFill>
                <a:latin typeface="Segoe UI"/>
              </a:rPr>
              <a:t>sees</a:t>
            </a:r>
            <a:r>
              <a:rPr sz="1450" b="0">
                <a:solidFill>
                  <a:srgbClr val="AFC6DA"/>
                </a:solidFill>
                <a:latin typeface="Segoe UI"/>
              </a:rPr>
              <a:t> the grounded result.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43400"/>
            <a:ext cx="10652760" cy="16916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5537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93AB"/>
                </a:solidFill>
                <a:latin typeface="Consolas"/>
              </a:rPr>
              <a:t>THE EXAMPLE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864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C93AB"/>
                </a:solidFill>
                <a:latin typeface="Segoe UI"/>
              </a:rPr>
              <a:t>“Average salinity in the Arabian Sea in 2023, 0–200 m.”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230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38E3C6"/>
                </a:solidFill>
                <a:latin typeface="Segoe UI"/>
              </a:rPr>
              <a:t>→ The average salinity was 36.02 PSU </a:t>
            </a:r>
            <a:r>
              <a:rPr sz="1500" b="0">
                <a:solidFill>
                  <a:srgbClr val="EAF5FB"/>
                </a:solidFill>
                <a:latin typeface="Segoe UI"/>
              </a:rPr>
              <a:t>across 24,559 measurements.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650992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97863" y="5669279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AFC6DA"/>
                </a:solidFill>
                <a:latin typeface="Consolas"/>
              </a:rPr>
              <a:t>Map · 214 floats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90088" y="5650992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36392" y="5669279"/>
            <a:ext cx="5532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AFC6DA"/>
                </a:solidFill>
                <a:latin typeface="Consolas"/>
              </a:rPr>
              <a:t>Chart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72484" y="5650992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18788" y="5669279"/>
            <a:ext cx="9372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AFC6DA"/>
                </a:solidFill>
                <a:latin typeface="Consolas"/>
              </a:rPr>
              <a:t>SQL shown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WHY YOU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It never makes numbers up.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23113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Grounded</a:t>
            </a:r>
            <a:r>
              <a:rPr sz="1450" b="0">
                <a:solidFill>
                  <a:srgbClr val="AFC6DA"/>
                </a:solidFill>
                <a:latin typeface="Segoe UI"/>
              </a:rPr>
              <a:t> — every number is checked against the result set; nothing invented.</a:t>
            </a:r>
          </a:p>
        </p:txBody>
      </p:sp>
      <p:sp>
        <p:nvSpPr>
          <p:cNvPr id="7" name="Diamond 6"/>
          <p:cNvSpPr/>
          <p:nvPr/>
        </p:nvSpPr>
        <p:spPr>
          <a:xfrm>
            <a:off x="777240" y="2834640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752344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Single SELECT only</a:t>
            </a:r>
            <a:r>
              <a:rPr sz="1450" b="0">
                <a:solidFill>
                  <a:srgbClr val="AFC6DA"/>
                </a:solidFill>
                <a:latin typeface="Segoe UI"/>
              </a:rPr>
              <a:t> — sqlglot parses it; DDL/DML and stacked statements are rejected.</a:t>
            </a:r>
          </a:p>
        </p:txBody>
      </p:sp>
      <p:sp>
        <p:nvSpPr>
          <p:cNvPr id="9" name="Diamond 8"/>
          <p:cNvSpPr/>
          <p:nvPr/>
        </p:nvSpPr>
        <p:spPr>
          <a:xfrm>
            <a:off x="777240" y="3438144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3355848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Allow-list + denylist — only the seven ARGO + fisheries tables are ever reachable.</a:t>
            </a:r>
          </a:p>
        </p:txBody>
      </p:sp>
      <p:sp>
        <p:nvSpPr>
          <p:cNvPr id="11" name="Diamond 10"/>
          <p:cNvSpPr/>
          <p:nvPr/>
        </p:nvSpPr>
        <p:spPr>
          <a:xfrm>
            <a:off x="777240" y="4041648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959352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Read-only role + 5s timeout</a:t>
            </a:r>
            <a:r>
              <a:rPr sz="1450" b="0">
                <a:solidFill>
                  <a:srgbClr val="AFC6DA"/>
                </a:solidFill>
                <a:latin typeface="Segoe UI"/>
              </a:rPr>
              <a:t> — the query can look, never touch.</a:t>
            </a:r>
          </a:p>
        </p:txBody>
      </p:sp>
      <p:sp>
        <p:nvSpPr>
          <p:cNvPr id="13" name="Diamond 12"/>
          <p:cNvSpPr/>
          <p:nvPr/>
        </p:nvSpPr>
        <p:spPr>
          <a:xfrm>
            <a:off x="777240" y="4645152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4562856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Transparent</a:t>
            </a:r>
            <a:r>
              <a:rPr sz="1450" b="0">
                <a:solidFill>
                  <a:srgbClr val="AFC6DA"/>
                </a:solidFill>
                <a:latin typeface="Segoe UI"/>
              </a:rPr>
              <a:t> — the SQL and float IDs are shown with every answer.</a:t>
            </a:r>
          </a:p>
        </p:txBody>
      </p:sp>
      <p:sp>
        <p:nvSpPr>
          <p:cNvPr id="15" name="Diamond 14"/>
          <p:cNvSpPr/>
          <p:nvPr/>
        </p:nvSpPr>
        <p:spPr>
          <a:xfrm>
            <a:off x="777240" y="524865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5166360"/>
            <a:ext cx="619963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EAF5FB"/>
                </a:solidFill>
                <a:latin typeface="Segoe UI"/>
              </a:rPr>
              <a:t>Offline-safe</a:t>
            </a:r>
            <a:r>
              <a:rPr sz="1450" b="0">
                <a:solidFill>
                  <a:srgbClr val="AFC6DA"/>
                </a:solidFill>
                <a:latin typeface="Segoe UI"/>
              </a:rPr>
              <a:t> — a rule engine answers the common questions if the AI is down.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148840"/>
            <a:ext cx="3794760" cy="30632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93AB"/>
                </a:solidFill>
                <a:latin typeface="Consolas"/>
              </a:rPr>
              <a:t>DATA QUALITY, AT INGEST</a:t>
            </a:r>
          </a:p>
        </p:txBody>
      </p:sp>
      <p:sp>
        <p:nvSpPr>
          <p:cNvPr id="19" name="Diamond 18"/>
          <p:cNvSpPr/>
          <p:nvPr/>
        </p:nvSpPr>
        <p:spPr>
          <a:xfrm>
            <a:off x="7909560" y="2871215"/>
            <a:ext cx="118872" cy="118872"/>
          </a:xfrm>
          <a:prstGeom prst="diamond">
            <a:avLst/>
          </a:prstGeom>
          <a:solidFill>
            <a:srgbClr val="7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2788920"/>
            <a:ext cx="2907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AFC6DA"/>
                </a:solidFill>
                <a:latin typeface="Segoe UI"/>
              </a:rPr>
              <a:t>Keep only QC flags 1–2; drop bad / missing.</a:t>
            </a:r>
          </a:p>
        </p:txBody>
      </p:sp>
      <p:sp>
        <p:nvSpPr>
          <p:cNvPr id="21" name="Diamond 20"/>
          <p:cNvSpPr/>
          <p:nvPr/>
        </p:nvSpPr>
        <p:spPr>
          <a:xfrm>
            <a:off x="7909560" y="3438144"/>
            <a:ext cx="118872" cy="118872"/>
          </a:xfrm>
          <a:prstGeom prst="diamond">
            <a:avLst/>
          </a:prstGeom>
          <a:solidFill>
            <a:srgbClr val="7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8" y="3355848"/>
            <a:ext cx="2907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AFC6DA"/>
                </a:solidFill>
                <a:latin typeface="Segoe UI"/>
              </a:rPr>
              <a:t>Prefer delayed-mode adjusted values.</a:t>
            </a:r>
          </a:p>
        </p:txBody>
      </p:sp>
      <p:sp>
        <p:nvSpPr>
          <p:cNvPr id="23" name="Diamond 22"/>
          <p:cNvSpPr/>
          <p:nvPr/>
        </p:nvSpPr>
        <p:spPr>
          <a:xfrm>
            <a:off x="7909560" y="4005072"/>
            <a:ext cx="118872" cy="118872"/>
          </a:xfrm>
          <a:prstGeom prst="diamond">
            <a:avLst/>
          </a:prstGeom>
          <a:solidFill>
            <a:srgbClr val="7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3922776"/>
            <a:ext cx="2907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AFC6DA"/>
                </a:solidFill>
                <a:latin typeface="Segoe UI"/>
              </a:rPr>
              <a:t>Convert pressure → true depth (TEOS-10).</a:t>
            </a:r>
          </a:p>
        </p:txBody>
      </p:sp>
      <p:sp>
        <p:nvSpPr>
          <p:cNvPr id="25" name="Diamond 24"/>
          <p:cNvSpPr/>
          <p:nvPr/>
        </p:nvSpPr>
        <p:spPr>
          <a:xfrm>
            <a:off x="7909560" y="4572000"/>
            <a:ext cx="118872" cy="118872"/>
          </a:xfrm>
          <a:prstGeom prst="diamond">
            <a:avLst/>
          </a:prstGeom>
          <a:solidFill>
            <a:srgbClr val="7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4489704"/>
            <a:ext cx="2907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AFC6DA"/>
                </a:solidFill>
                <a:latin typeface="Segoe UI"/>
              </a:rPr>
              <a:t>Keep ascending profiles; one row per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PROVEN ON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Built on real ARGO floats, and it actually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96312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AF5FB"/>
                </a:solidFill>
                <a:latin typeface="Segoe UI Semibold"/>
              </a:rPr>
              <a:t>12,442</a:t>
            </a:r>
            <a:r>
              <a:rPr sz="1200" b="1">
                <a:solidFill>
                  <a:srgbClr val="38E3C6"/>
                </a:solidFill>
                <a:latin typeface="Segoe UI"/>
              </a:rPr>
              <a:t> 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C93AB"/>
                </a:solidFill>
                <a:latin typeface="Consolas"/>
              </a:rPr>
              <a:t>Indian Ocean ·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2240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2496312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AF5FB"/>
                </a:solidFill>
                <a:latin typeface="Segoe UI Semibold"/>
              </a:rPr>
              <a:t>7.9M</a:t>
            </a:r>
            <a:r>
              <a:rPr sz="1200" b="1">
                <a:solidFill>
                  <a:srgbClr val="38E3C6"/>
                </a:solidFill>
                <a:latin typeface="Segoe UI"/>
              </a:rPr>
              <a:t> 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1546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C93AB"/>
                </a:solidFill>
                <a:latin typeface="Consolas"/>
              </a:rPr>
              <a:t>temp · salinity ·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240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2496312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AF5FB"/>
                </a:solidFill>
                <a:latin typeface="Segoe UI Semibold"/>
              </a:rPr>
              <a:t>5</a:t>
            </a:r>
            <a:r>
              <a:rPr sz="1200" b="1">
                <a:solidFill>
                  <a:srgbClr val="38E3C6"/>
                </a:solidFill>
                <a:latin typeface="Segoe UI"/>
              </a:rPr>
              <a:t> 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1546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C93AB"/>
                </a:solidFill>
                <a:latin typeface="Consolas"/>
              </a:rPr>
              <a:t>verified end-to-end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2240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0848" y="2496312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AF5FB"/>
                </a:solidFill>
                <a:latin typeface="Segoe UI Semibold"/>
              </a:rPr>
              <a:t>36/36</a:t>
            </a:r>
            <a:r>
              <a:rPr sz="1200" b="1">
                <a:solidFill>
                  <a:srgbClr val="38E3C6"/>
                </a:solidFill>
                <a:latin typeface="Segoe UI"/>
              </a:rPr>
              <a:t>  tests 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1546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C93AB"/>
                </a:solidFill>
                <a:latin typeface="Consolas"/>
              </a:rPr>
              <a:t>safety +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39"/>
            <a:ext cx="3328415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995927"/>
            <a:ext cx="31455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Frontend  </a:t>
            </a:r>
            <a:r>
              <a:rPr sz="1150" b="0">
                <a:solidFill>
                  <a:srgbClr val="AFC6DA"/>
                </a:solidFill>
                <a:latin typeface="Consolas"/>
              </a:rPr>
              <a:t>React · Leaflet · Plotly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3977639"/>
            <a:ext cx="3424428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3995927"/>
            <a:ext cx="32415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Backend  </a:t>
            </a:r>
            <a:r>
              <a:rPr sz="1150" b="0">
                <a:solidFill>
                  <a:srgbClr val="AFC6DA"/>
                </a:solidFill>
                <a:latin typeface="Consolas"/>
              </a:rPr>
              <a:t>FastAPI · Postgres+PostGIS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80560"/>
            <a:ext cx="3328415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" y="4498848"/>
            <a:ext cx="31455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AI  </a:t>
            </a:r>
            <a:r>
              <a:rPr sz="1150" b="0">
                <a:solidFill>
                  <a:srgbClr val="AFC6DA"/>
                </a:solidFill>
                <a:latin typeface="Consolas"/>
              </a:rPr>
              <a:t>LLM + RAG, offline rule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4480560"/>
            <a:ext cx="2656332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98264" y="4498848"/>
            <a:ext cx="24734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Safety  </a:t>
            </a:r>
            <a:r>
              <a:rPr sz="1150" b="0">
                <a:solidFill>
                  <a:srgbClr val="AFC6DA"/>
                </a:solidFill>
                <a:latin typeface="Consolas"/>
              </a:rPr>
              <a:t>sqlglot · read-only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FC6DA"/>
                </a:solidFill>
                <a:latin typeface="Segoe UI"/>
              </a:rPr>
              <a:t>Sourced from ARGO's official servers via argopy — the same INCOIS floats catalogued on data.gov.in — cleaned (QC 1–2, adjusted values, TEOS-10 depth) and pre-loaded, so the demo runs with no network.</a:t>
            </a:r>
          </a:p>
        </p:txBody>
      </p:sp>
      <p:sp>
        <p:nvSpPr>
          <p:cNvPr id="26" name="Rounded Rectangle 22"/>
          <p:cNvSpPr/>
          <p:nvPr/>
        </p:nvSpPr>
        <p:spPr>
          <a:xfrm>
            <a:off x="7054595" y="44805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3"/>
          <p:cNvSpPr txBox="1"/>
          <p:nvPr/>
        </p:nvSpPr>
        <p:spPr>
          <a:xfrm>
            <a:off x="7200899" y="4498847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Fisheries  PFZ · SST · Chlorophyll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FISHERIES INTELLIGENCE —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The same engine, now for the people who fish.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231136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Fishing zones (PFZ) — derived from live satellite data with the INCOIS recipe, overlaid on the float map. “Where should I go today?”</a:t>
            </a:r>
          </a:p>
        </p:txBody>
      </p:sp>
      <p:sp>
        <p:nvSpPr>
          <p:cNvPr id="7" name="Diamond 4"/>
          <p:cNvSpPr/>
          <p:nvPr/>
        </p:nvSpPr>
        <p:spPr>
          <a:xfrm>
            <a:off x="777240" y="2962656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/>
          <p:cNvSpPr txBox="1"/>
          <p:nvPr/>
        </p:nvSpPr>
        <p:spPr>
          <a:xfrm>
            <a:off x="1069848" y="288036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Satellite SST (NOAA OISST, daily) — “Is the water warm enough for tuna near Kochi?” → a grounded answer, with the data.</a:t>
            </a:r>
          </a:p>
        </p:txBody>
      </p:sp>
      <p:sp>
        <p:nvSpPr>
          <p:cNvPr id="9" name="Diamond 4"/>
          <p:cNvSpPr/>
          <p:nvPr/>
        </p:nvSpPr>
        <p:spPr>
          <a:xfrm>
            <a:off x="777240" y="3694176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5"/>
          <p:cNvSpPr txBox="1"/>
          <p:nvPr/>
        </p:nvSpPr>
        <p:spPr>
          <a:xfrm>
            <a:off x="1069848" y="361188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Chlorophyll (NOAA VIIRS, daily) — plankton blooms mark productive grounds; ask for hotspots by region.</a:t>
            </a:r>
          </a:p>
        </p:txBody>
      </p:sp>
      <p:sp>
        <p:nvSpPr>
          <p:cNvPr id="11" name="Diamond 4"/>
          <p:cNvSpPr/>
          <p:nvPr/>
        </p:nvSpPr>
        <p:spPr>
          <a:xfrm>
            <a:off x="777240" y="4425696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5"/>
          <p:cNvSpPr txBox="1"/>
          <p:nvPr/>
        </p:nvSpPr>
        <p:spPr>
          <a:xfrm>
            <a:off x="1069848" y="4343400"/>
            <a:ext cx="6108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AF5FB"/>
                </a:solidFill>
                <a:latin typeface="Segoe UI"/>
              </a:rPr>
              <a:t>Seasonal guide + offline — species tips by monsoon; the rule engine answers from the last sync at sea.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148840"/>
            <a:ext cx="3886200" cy="2834640"/>
          </a:xfrm>
          <a:prstGeom prst="roundRect">
            <a:avLst>
              <a:gd name="adj" fmla="val 6000"/>
            </a:avLst>
          </a:prstGeom>
          <a:solidFill>
            <a:srgbClr val="0E2334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93AB"/>
                </a:solidFill>
                <a:latin typeface="Consolas"/>
              </a:rPr>
              <a:t>FROM SCIENCE TO LIVELIHOODS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889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AFC6DA"/>
                </a:solidFill>
                <a:latin typeface="Segoe UI"/>
              </a:rPr>
              <a:t>India has 4 million+ active fishermen. INCOIS already issues PFZ advisories, but the raw data behind them is out of reach. FloatChat makes it queryable in plain language — species, water temperature, chlorophyll and conditions near any Indian 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4805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F6BB52"/>
                </a:solidFill>
                <a:latin typeface="Consolas"/>
              </a:rPr>
              <a:t>Same safety gate: read-only, grounded, auditable.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777240" y="507492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6"/>
          <p:cNvSpPr txBox="1"/>
          <p:nvPr/>
        </p:nvSpPr>
        <p:spPr>
          <a:xfrm>
            <a:off x="923544" y="5093207"/>
            <a:ext cx="13441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PFZ  advisories</a:t>
            </a:r>
          </a:p>
        </p:txBody>
      </p:sp>
      <p:sp>
        <p:nvSpPr>
          <p:cNvPr id="19" name="Rounded Rectangle 15"/>
          <p:cNvSpPr/>
          <p:nvPr/>
        </p:nvSpPr>
        <p:spPr>
          <a:xfrm>
            <a:off x="2450592" y="507492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6"/>
          <p:cNvSpPr txBox="1"/>
          <p:nvPr/>
        </p:nvSpPr>
        <p:spPr>
          <a:xfrm>
            <a:off x="2596896" y="5093207"/>
            <a:ext cx="13441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SST  composites</a:t>
            </a:r>
          </a:p>
        </p:txBody>
      </p:sp>
      <p:sp>
        <p:nvSpPr>
          <p:cNvPr id="21" name="Rounded Rectangle 15"/>
          <p:cNvSpPr/>
          <p:nvPr/>
        </p:nvSpPr>
        <p:spPr>
          <a:xfrm>
            <a:off x="4123944" y="507492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6"/>
          <p:cNvSpPr txBox="1"/>
          <p:nvPr/>
        </p:nvSpPr>
        <p:spPr>
          <a:xfrm>
            <a:off x="4270248" y="5093207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Chl-a  ocean colour</a:t>
            </a:r>
          </a:p>
        </p:txBody>
      </p:sp>
      <p:sp>
        <p:nvSpPr>
          <p:cNvPr id="23" name="Rounded Rectangle 15"/>
          <p:cNvSpPr/>
          <p:nvPr/>
        </p:nvSpPr>
        <p:spPr>
          <a:xfrm>
            <a:off x="6135624" y="50749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122A3D"/>
          </a:solidFill>
          <a:ln w="12700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6"/>
          <p:cNvSpPr txBox="1"/>
          <p:nvPr/>
        </p:nvSpPr>
        <p:spPr>
          <a:xfrm>
            <a:off x="6281928" y="5093207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Offline 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4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38E3C6"/>
                </a:solidFill>
                <a:latin typeface="Consolas"/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From locked data to a question anyone can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38E3C6"/>
                </a:solidFill>
                <a:latin typeface="Consolas"/>
              </a:rPr>
              <a:t>IMPACT TODAY</a:t>
            </a:r>
          </a:p>
        </p:txBody>
      </p:sp>
      <p:sp>
        <p:nvSpPr>
          <p:cNvPr id="6" name="Diamond 5"/>
          <p:cNvSpPr/>
          <p:nvPr/>
        </p:nvSpPr>
        <p:spPr>
          <a:xfrm>
            <a:off x="777240" y="2642615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2560320"/>
            <a:ext cx="48280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Scientists get answers in seconds instead of writing extraction code.</a:t>
            </a:r>
          </a:p>
        </p:txBody>
      </p:sp>
      <p:sp>
        <p:nvSpPr>
          <p:cNvPr id="8" name="Diamond 7"/>
          <p:cNvSpPr/>
          <p:nvPr/>
        </p:nvSpPr>
        <p:spPr>
          <a:xfrm>
            <a:off x="777240" y="3374135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3291839"/>
            <a:ext cx="48280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Students, officers, and the public reach ocean data for the first time.</a:t>
            </a:r>
          </a:p>
        </p:txBody>
      </p:sp>
      <p:sp>
        <p:nvSpPr>
          <p:cNvPr id="10" name="Diamond 9"/>
          <p:cNvSpPr/>
          <p:nvPr/>
        </p:nvSpPr>
        <p:spPr>
          <a:xfrm>
            <a:off x="777240" y="410565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4023360"/>
            <a:ext cx="48280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Every answer is auditable — the SQL is right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6BB52"/>
                </a:solidFill>
                <a:latin typeface="Consolas"/>
              </a:rPr>
              <a:t>WHAT'S NEXT</a:t>
            </a:r>
          </a:p>
        </p:txBody>
      </p:sp>
      <p:sp>
        <p:nvSpPr>
          <p:cNvPr id="13" name="Diamond 12"/>
          <p:cNvSpPr/>
          <p:nvPr/>
        </p:nvSpPr>
        <p:spPr>
          <a:xfrm>
            <a:off x="6400800" y="2642615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2560320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BGC-Argo — oxygen, chlorophyll, nitrate.</a:t>
            </a:r>
          </a:p>
        </p:txBody>
      </p:sp>
      <p:sp>
        <p:nvSpPr>
          <p:cNvPr id="15" name="Diamond 14"/>
          <p:cNvSpPr/>
          <p:nvPr/>
        </p:nvSpPr>
        <p:spPr>
          <a:xfrm>
            <a:off x="6400800" y="3300983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8" y="3218687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Live INCOIS ingestion — near real-time floats.</a:t>
            </a:r>
          </a:p>
        </p:txBody>
      </p:sp>
      <p:sp>
        <p:nvSpPr>
          <p:cNvPr id="17" name="Diamond 16"/>
          <p:cNvSpPr/>
          <p:nvPr/>
        </p:nvSpPr>
        <p:spPr>
          <a:xfrm>
            <a:off x="6400800" y="3959352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8" y="3877056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Anomaly &amp; marine-heatwave alerts; trajectories.</a:t>
            </a:r>
          </a:p>
        </p:txBody>
      </p:sp>
      <p:sp>
        <p:nvSpPr>
          <p:cNvPr id="19" name="Diamond 18"/>
          <p:cNvSpPr/>
          <p:nvPr/>
        </p:nvSpPr>
        <p:spPr>
          <a:xfrm>
            <a:off x="6400800" y="4617720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4535424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Voice queries and more Indian languages.</a:t>
            </a:r>
          </a:p>
        </p:txBody>
      </p:sp>
      <p:sp>
        <p:nvSpPr>
          <p:cNvPr id="21" name="Diamond 9"/>
          <p:cNvSpPr/>
          <p:nvPr/>
        </p:nvSpPr>
        <p:spPr>
          <a:xfrm>
            <a:off x="777240" y="4837176"/>
            <a:ext cx="118872" cy="118872"/>
          </a:xfrm>
          <a:prstGeom prst="diamond">
            <a:avLst/>
          </a:prstGeom>
          <a:solidFill>
            <a:srgbClr val="38E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0"/>
          <p:cNvSpPr txBox="1"/>
          <p:nvPr/>
        </p:nvSpPr>
        <p:spPr>
          <a:xfrm>
            <a:off x="1069848" y="4754880"/>
            <a:ext cx="48280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Fishermen ask about fish, water temperature and chlorophyll near their port — in plain language.</a:t>
            </a:r>
          </a:p>
        </p:txBody>
      </p:sp>
      <p:sp>
        <p:nvSpPr>
          <p:cNvPr id="23" name="Diamond 18"/>
          <p:cNvSpPr/>
          <p:nvPr/>
        </p:nvSpPr>
        <p:spPr>
          <a:xfrm>
            <a:off x="6400800" y="5276088"/>
            <a:ext cx="118872" cy="118872"/>
          </a:xfrm>
          <a:prstGeom prst="diamond">
            <a:avLst/>
          </a:prstGeom>
          <a:solidFill>
            <a:srgbClr val="F6B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9"/>
          <p:cNvSpPr txBox="1"/>
          <p:nvPr/>
        </p:nvSpPr>
        <p:spPr>
          <a:xfrm>
            <a:off x="6693408" y="5193792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AFC6DA"/>
                </a:solidFill>
                <a:latin typeface="Segoe UI"/>
              </a:rPr>
              <a:t>SMS / WhatsApp answers for fishermen at sea.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8E3C6"/>
                </a:solidFill>
                <a:latin typeface="Consolas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14600"/>
            <a:ext cx="963137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EAF5FB"/>
                </a:solidFill>
                <a:latin typeface="Segoe UI Semibold"/>
              </a:rPr>
              <a:t>Anyone can ask the ocean a question
and trust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4206240"/>
            <a:ext cx="7802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D6E6F0"/>
                </a:solidFill>
                <a:latin typeface="Segoe UI"/>
              </a:rPr>
              <a:t>Plain language in → a validated, read-only query over real ARGO data and fisheries intelligence → a correct answer, a map, a chart, and the exact SQL — in seconds, even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6BB52"/>
                </a:solidFill>
                <a:latin typeface="Consolas"/>
              </a:rPr>
              <a:t>FloatChat   ·   Team entropy   ·   ANL26-028   ·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866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Saanvi</cp:lastModifiedBy>
  <cp:revision>2</cp:revision>
  <dcterms:created xsi:type="dcterms:W3CDTF">2013-01-27T09:14:16Z</dcterms:created>
  <dcterms:modified xsi:type="dcterms:W3CDTF">2026-09-01T04:35:10Z</dcterms:modified>
  <cp:category/>
</cp:coreProperties>
</file>