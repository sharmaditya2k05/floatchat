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71d1925-e196-9a6e-9cba-d6ba52196175}">
          <p14:sldIdLst>
            <p14:sldId id="256"/>
            <p14:sldId id="257"/>
            <p14:sldId id="258"/>
          </p14:sldIdLst>
        </p14:section>
        <p14:section name="What it does" id="{0a68dc06-97b7-928d-171a-3ca166d56783}">
          <p14:sldIdLst>
            <p14:sldId id="259"/>
            <p14:sldId id="260"/>
            <p14:sldId id="261"/>
          </p14:sldIdLst>
        </p14:section>
        <p14:section name="How it is built" id="{02c3156b-5ae1-1a9e-8d7e-127fcb42fb17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emonstration" id="{15ff8a7d-3dbe-8bb7-bbfb-2364e0d1078c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Reflection" id="{b3d4d08b-4544-c4a3-4a06-8b4182385620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FloatChat is a web app that turns a plain-language question about the ocean into a validated SQL query over real ARGO float data, and returns a grounded one-sentence answer plus a map, chart and the SQL itself. Live at http://80.225.245.19; code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exists and is open, but the access barrier is technical: NetCDF files, QC flags, delayed-mode conventions, pressure-to-depth conversion. The problem statement (PS26-033) asks to make ARGO data usable by non-specialists.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drive the design: natural-language input, grounded answers, full transparency (map/chart/table/SQL), and a fisheries layer. Users range from students to fisheries officers.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screenshot: the chat on the left holds the question and the one-sentence answer; the right panel shows the map with the floats that answered, with Chart and Table tabs; the SQL panel sits underneath with the engine badge (llm or rule).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here is in the codebase: lang.py (languages), summarize.py (grounding), viz.py + MapView/ChartView/TableView (visuals), SqlPanel + SidePanels (SQL, history, saved), ingest/fisheries_fetch.py (fisheries), fallback_nl2sql.py (rule engine).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taken from the manifests: frontend/package.json, requirements.txt, db/schema.sql, .env.example (LLM providers), docker-compose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containers on one VM. Caddy serves the built React app and reverse-proxies /api to FastAPI. FastAPI runs the pipeline modules top to bottom and talks to PostGIS with a read-only role. External services: the LLM API (optional — the live demo runs the rule engine), ARGO's ERDDAP for the one-off ARGO load, and NOAA's ERDDAP for the nightly fisheries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order in app/main.py chat(). Steps 4 and 6 (amber) are the safety gates: nothing reaches the database unless it is a single read-only SELECT on allowed tables, and nothing reaches the user as a number unless it came from the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Snippets are condensed from the real files. Key design: the LLM is optional and untrusted; every path ends in validate_sql().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in depth: validator (what SQL), read-only transaction + role (what it can touch), statement timeout (how long). The grounding gate compares the set of numbers in the candidate sentence with the set of numbers in the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ARGO load is a one-off batch (ingest.build_db) that can be run for any date range; the fisheries layer refreshes itself every night from open NOAA feeds. Figures on the right were read from the live database when this deck was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repo's original guide targeted a 12 GB ARM VM; this deployment runs on the 1 GB AMD shape instead, which required building the frontend off-box, swap, lower Postgres memory settings and loading the ARGO data on the server in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are evidenced in the repository or the deployment logs: docker-compose.micro.yml and the deploy guide (memory), the fisheries_fetch.py commit (NOAA 404), DataLimitNotice.tsx (data window), .env (LLM off), Caddyfile (TLS via SITE_ADDRESS).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builds on hooks that exist in the code today; none is implemented in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URL. Key takeaways: grounded by design, degrades gracefully without an LLM, and deployed for real on free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5760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FloatChat · ANALYTICA 2026 · PS26-033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FloatChat</a:t>
            </a:r>
            <a:endParaRPr lang="en-US" sz="4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Ask the ocean. Get real answers.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Plain-language access to real ARGO ocean-float data — a grounded answer, a live float map, a chart and the exact SQL behind it.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ANALYTICA 2026 · Problem PS26-033 · MoES / INCOIS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Presented by Aditya Sharma</a:t>
            </a:r>
            <a:endParaRPr lang="en-US" sz="1600" dirty="0"/>
          </a:p>
        </p:txBody>
      </p:sp>
      <p:sp>
        <p:nvSpPr>
          <p:cNvPr id="4" name="frame 1"/>
          <p:cNvSpPr/>
          <p:nvPr/>
        </p:nvSpPr>
        <p:spPr>
          <a:xfrm>
            <a:off x="6803136" y="1545336"/>
            <a:ext cx="4956048" cy="3138678"/>
          </a:xfrm>
          <a:prstGeom prst="roundRect">
            <a:avLst>
              <a:gd name="adj" fmla="val 291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2" descr="C:\Users\Aditya\AppData\Local\Temp\claude\C--Users-Aditya-AppData-Roaming-Claude-scratch-workspaces-cd6a4156-9f3b-47f6-9837-f1cc0711a291-bd2a9cd6-7d84-4284-b93a-7971c0f98a00-scratch-2026-10-15-da1e4e\560efee6-9554-44b4-8f3b-96804c516904\scratchpad\deck\shots\01_lan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4846320" cy="3028950"/>
          </a:xfrm>
          <a:prstGeom prst="rect">
            <a:avLst/>
          </a:prstGeom>
        </p:spPr>
      </p:pic>
      <p:sp>
        <p:nvSpPr>
          <p:cNvPr id="6" name="tag bg 3"/>
          <p:cNvSpPr/>
          <p:nvPr/>
        </p:nvSpPr>
        <p:spPr>
          <a:xfrm>
            <a:off x="640080" y="5394960"/>
            <a:ext cx="274320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394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LIVE  http://80.225.245.19</a:t>
            </a:r>
            <a:endParaRPr lang="en-US" sz="1050" dirty="0"/>
          </a:p>
        </p:txBody>
      </p:sp>
      <p:sp>
        <p:nvSpPr>
          <p:cNvPr id="8" name="tag bg 5"/>
          <p:cNvSpPr/>
          <p:nvPr/>
        </p:nvSpPr>
        <p:spPr>
          <a:xfrm>
            <a:off x="3520440" y="5394960"/>
            <a:ext cx="3291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5394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github.com/Sharmaditya2k05/Floatchat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7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INTRODUCTION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ocean is measured — but the data is locked away</a:t>
            </a:r>
            <a:endParaRPr lang="en-US" sz="3000" dirty="0"/>
          </a:p>
        </p:txBody>
      </p:sp>
      <p:sp>
        <p:nvSpPr>
          <p:cNvPr id="4" name="text 8"/>
          <p:cNvSpPr txBox="1"/>
          <p:nvPr/>
        </p:nvSpPr>
        <p:spPr>
          <a:xfrm>
            <a:off x="548640" y="11887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ARGO is the world's largest ocean-observing programme. Its data is public, free and continuous. Almost nobody outside a small group of specialists can use it.</a:t>
            </a:r>
            <a:endParaRPr lang="en-US" sz="1500" dirty="0"/>
          </a:p>
        </p:txBody>
      </p:sp>
      <p:sp>
        <p:nvSpPr>
          <p:cNvPr id="5" name="icon bg 9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40280"/>
            <a:ext cx="274320" cy="274320"/>
          </a:xfrm>
          <a:prstGeom prst="rect">
            <a:avLst/>
          </a:prstGeom>
        </p:spPr>
      </p:pic>
      <p:sp>
        <p:nvSpPr>
          <p:cNvPr id="7" name="text 11"/>
          <p:cNvSpPr txBox="1"/>
          <p:nvPr/>
        </p:nvSpPr>
        <p:spPr>
          <a:xfrm>
            <a:off x="1280160" y="20848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Ships as NetCDF</a:t>
            </a:r>
            <a:endParaRPr lang="en-US" sz="1500" dirty="0"/>
          </a:p>
        </p:txBody>
      </p:sp>
      <p:sp>
        <p:nvSpPr>
          <p:cNvPr id="8" name="text 12"/>
          <p:cNvSpPr txBox="1"/>
          <p:nvPr/>
        </p:nvSpPr>
        <p:spPr>
          <a:xfrm>
            <a:off x="1280160" y="2377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scientific binary format with its own conventions — no spreadsheet, no search box.</a:t>
            </a:r>
            <a:endParaRPr lang="en-US" sz="1250" dirty="0"/>
          </a:p>
        </p:txBody>
      </p:sp>
      <p:sp>
        <p:nvSpPr>
          <p:cNvPr id="9" name="icon bg 13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0" name="icon 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1" name="text 15"/>
          <p:cNvSpPr txBox="1"/>
          <p:nvPr/>
        </p:nvSpPr>
        <p:spPr>
          <a:xfrm>
            <a:off x="1280160" y="30906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Quality-control flags</a:t>
            </a:r>
            <a:endParaRPr lang="en-US" sz="1500" dirty="0"/>
          </a:p>
        </p:txBody>
      </p:sp>
      <p:sp>
        <p:nvSpPr>
          <p:cNvPr id="12" name="text 16"/>
          <p:cNvSpPr txBox="1"/>
          <p:nvPr/>
        </p:nvSpPr>
        <p:spPr>
          <a:xfrm>
            <a:off x="1280160" y="3383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Every reading carries a QC flag (1 good … 4 bad, 9 missing) and a real-time vs delayed-mode version. Pick wrong and the answer is wrong.</a:t>
            </a:r>
            <a:endParaRPr lang="en-US" sz="1250" dirty="0"/>
          </a:p>
        </p:txBody>
      </p:sp>
      <p:sp>
        <p:nvSpPr>
          <p:cNvPr id="13" name="icon bg 17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4" name="icon 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51960"/>
            <a:ext cx="274320" cy="274320"/>
          </a:xfrm>
          <a:prstGeom prst="rect">
            <a:avLst/>
          </a:prstGeom>
        </p:spPr>
      </p:pic>
      <p:sp>
        <p:nvSpPr>
          <p:cNvPr id="15" name="text 19"/>
          <p:cNvSpPr txBox="1"/>
          <p:nvPr/>
        </p:nvSpPr>
        <p:spPr>
          <a:xfrm>
            <a:off x="1280160" y="4096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Pressure, not depth</a:t>
            </a:r>
            <a:endParaRPr lang="en-US" sz="1500" dirty="0"/>
          </a:p>
        </p:txBody>
      </p:sp>
      <p:sp>
        <p:nvSpPr>
          <p:cNvPr id="16" name="text 20"/>
          <p:cNvSpPr txBox="1"/>
          <p:nvPr/>
        </p:nvSpPr>
        <p:spPr>
          <a:xfrm>
            <a:off x="1280160" y="4389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Floats record pressure in decibars; "above 200 m" needs a TEOS-10 conversion first.</a:t>
            </a:r>
            <a:endParaRPr lang="en-US" sz="1250" dirty="0"/>
          </a:p>
        </p:txBody>
      </p:sp>
      <p:sp>
        <p:nvSpPr>
          <p:cNvPr id="17" name="icon bg 21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8" name="icon 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57800"/>
            <a:ext cx="274320" cy="274320"/>
          </a:xfrm>
          <a:prstGeom prst="rect">
            <a:avLst/>
          </a:prstGeom>
        </p:spPr>
      </p:pic>
      <p:sp>
        <p:nvSpPr>
          <p:cNvPr id="19" name="text 23"/>
          <p:cNvSpPr txBox="1"/>
          <p:nvPr/>
        </p:nvSpPr>
        <p:spPr>
          <a:xfrm>
            <a:off x="1280160" y="51023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 before every answer</a:t>
            </a:r>
            <a:endParaRPr lang="en-US" sz="1500" dirty="0"/>
          </a:p>
        </p:txBody>
      </p:sp>
      <p:sp>
        <p:nvSpPr>
          <p:cNvPr id="20" name="text 24"/>
          <p:cNvSpPr txBox="1"/>
          <p:nvPr/>
        </p:nvSpPr>
        <p:spPr>
          <a:xfrm>
            <a:off x="1280160" y="5394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One question = install tools, write Python, handle xarray. Students, fisheries officers and policymakers are locked out.</a:t>
            </a:r>
            <a:endParaRPr lang="en-US" sz="1250" dirty="0"/>
          </a:p>
        </p:txBody>
      </p:sp>
      <p:sp>
        <p:nvSpPr>
          <p:cNvPr id="21" name="card 25"/>
          <p:cNvSpPr/>
          <p:nvPr/>
        </p:nvSpPr>
        <p:spPr>
          <a:xfrm>
            <a:off x="7955280" y="1188720"/>
            <a:ext cx="3657600" cy="4937760"/>
          </a:xfrm>
          <a:prstGeom prst="roundRect">
            <a:avLst>
              <a:gd name="adj" fmla="val 30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6"/>
          <p:cNvSpPr txBox="1"/>
          <p:nvPr/>
        </p:nvSpPr>
        <p:spPr>
          <a:xfrm>
            <a:off x="81838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scale of what's out of reach</a:t>
            </a:r>
            <a:endParaRPr lang="en-US" sz="1300" dirty="0"/>
          </a:p>
        </p:txBody>
      </p:sp>
      <p:sp>
        <p:nvSpPr>
          <p:cNvPr id="23" name="text 27"/>
          <p:cNvSpPr txBox="1"/>
          <p:nvPr/>
        </p:nvSpPr>
        <p:spPr>
          <a:xfrm>
            <a:off x="8183880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~4,000</a:t>
            </a:r>
            <a:endParaRPr lang="en-US" sz="4000" dirty="0"/>
          </a:p>
        </p:txBody>
      </p:sp>
      <p:sp>
        <p:nvSpPr>
          <p:cNvPr id="24" name="text 28"/>
          <p:cNvSpPr txBox="1"/>
          <p:nvPr/>
        </p:nvSpPr>
        <p:spPr>
          <a:xfrm>
            <a:off x="818388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autonomous floats drifting in every ocean</a:t>
            </a:r>
            <a:endParaRPr lang="en-US" sz="1200" dirty="0"/>
          </a:p>
        </p:txBody>
      </p:sp>
      <p:sp>
        <p:nvSpPr>
          <p:cNvPr id="25" name="text 29"/>
          <p:cNvSpPr txBox="1"/>
          <p:nvPr/>
        </p:nvSpPr>
        <p:spPr>
          <a:xfrm>
            <a:off x="8183880" y="3200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100,000+</a:t>
            </a:r>
            <a:endParaRPr lang="en-US" sz="4000" dirty="0"/>
          </a:p>
        </p:txBody>
      </p:sp>
      <p:sp>
        <p:nvSpPr>
          <p:cNvPr id="26" name="text 30"/>
          <p:cNvSpPr txBox="1"/>
          <p:nvPr/>
        </p:nvSpPr>
        <p:spPr>
          <a:xfrm>
            <a:off x="8183880" y="3913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new profiles every year since 2000</a:t>
            </a:r>
            <a:endParaRPr lang="en-US" sz="1200" dirty="0"/>
          </a:p>
        </p:txBody>
      </p:sp>
      <p:sp>
        <p:nvSpPr>
          <p:cNvPr id="27" name="text 31"/>
          <p:cNvSpPr txBox="1"/>
          <p:nvPr/>
        </p:nvSpPr>
        <p:spPr>
          <a:xfrm>
            <a:off x="8183880" y="4572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3M+</a:t>
            </a:r>
            <a:endParaRPr lang="en-US" sz="4000" dirty="0"/>
          </a:p>
        </p:txBody>
      </p:sp>
      <p:sp>
        <p:nvSpPr>
          <p:cNvPr id="28" name="text 32"/>
          <p:cNvSpPr txBox="1"/>
          <p:nvPr/>
        </p:nvSpPr>
        <p:spPr>
          <a:xfrm>
            <a:off x="8183880" y="5285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profiles in total — temperature, salinity, pressure to 2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INTRODUCTION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 and intended users</a:t>
            </a:r>
            <a:endParaRPr lang="en-US" sz="3000" dirty="0"/>
          </a:p>
        </p:txBody>
      </p:sp>
      <p:sp>
        <p:nvSpPr>
          <p:cNvPr id="4" name="card 34"/>
          <p:cNvSpPr/>
          <p:nvPr/>
        </p:nvSpPr>
        <p:spPr>
          <a:xfrm>
            <a:off x="548640" y="1234440"/>
            <a:ext cx="704088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icon bg 35"/>
          <p:cNvSpPr/>
          <p:nvPr/>
        </p:nvSpPr>
        <p:spPr>
          <a:xfrm>
            <a:off x="731520" y="1481328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18488"/>
            <a:ext cx="274320" cy="274320"/>
          </a:xfrm>
          <a:prstGeom prst="rect">
            <a:avLst/>
          </a:prstGeom>
        </p:spPr>
      </p:pic>
      <p:sp>
        <p:nvSpPr>
          <p:cNvPr id="7" name="text 37"/>
          <p:cNvSpPr txBox="1"/>
          <p:nvPr/>
        </p:nvSpPr>
        <p:spPr>
          <a:xfrm>
            <a:off x="1463040" y="13990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Ask in plain language</a:t>
            </a:r>
            <a:endParaRPr lang="en-US" sz="1500" dirty="0"/>
          </a:p>
        </p:txBody>
      </p:sp>
      <p:sp>
        <p:nvSpPr>
          <p:cNvPr id="8" name="text 38"/>
          <p:cNvSpPr txBox="1"/>
          <p:nvPr/>
        </p:nvSpPr>
        <p:spPr>
          <a:xfrm>
            <a:off x="1463040" y="1737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English or an Indian language (Hindi, Tamil, Bengali, Telugu, Malayalam) — no query syntax.</a:t>
            </a:r>
            <a:endParaRPr lang="en-US" sz="1250" dirty="0"/>
          </a:p>
        </p:txBody>
      </p:sp>
      <p:sp>
        <p:nvSpPr>
          <p:cNvPr id="9" name="card 39"/>
          <p:cNvSpPr/>
          <p:nvPr/>
        </p:nvSpPr>
        <p:spPr>
          <a:xfrm>
            <a:off x="548640" y="2423160"/>
            <a:ext cx="704088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icon bg 40"/>
          <p:cNvSpPr/>
          <p:nvPr/>
        </p:nvSpPr>
        <p:spPr>
          <a:xfrm>
            <a:off x="731520" y="2670048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1" name="icon 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07208"/>
            <a:ext cx="274320" cy="274320"/>
          </a:xfrm>
          <a:prstGeom prst="rect">
            <a:avLst/>
          </a:prstGeom>
        </p:spPr>
      </p:pic>
      <p:sp>
        <p:nvSpPr>
          <p:cNvPr id="12" name="text 42"/>
          <p:cNvSpPr txBox="1"/>
          <p:nvPr/>
        </p:nvSpPr>
        <p:spPr>
          <a:xfrm>
            <a:off x="1463040" y="25877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Never invent a number</a:t>
            </a:r>
            <a:endParaRPr lang="en-US" sz="1500" dirty="0"/>
          </a:p>
        </p:txBody>
      </p:sp>
      <p:sp>
        <p:nvSpPr>
          <p:cNvPr id="13" name="text 43"/>
          <p:cNvSpPr txBox="1"/>
          <p:nvPr/>
        </p:nvSpPr>
        <p:spPr>
          <a:xfrm>
            <a:off x="146304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Every figure in the answer must come from a real database row — the answer is checked, not trusted.</a:t>
            </a:r>
            <a:endParaRPr lang="en-US" sz="1250" dirty="0"/>
          </a:p>
        </p:txBody>
      </p:sp>
      <p:sp>
        <p:nvSpPr>
          <p:cNvPr id="14" name="card 44"/>
          <p:cNvSpPr/>
          <p:nvPr/>
        </p:nvSpPr>
        <p:spPr>
          <a:xfrm>
            <a:off x="548640" y="3611880"/>
            <a:ext cx="704088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icon bg 45"/>
          <p:cNvSpPr/>
          <p:nvPr/>
        </p:nvSpPr>
        <p:spPr>
          <a:xfrm>
            <a:off x="731520" y="3858768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con 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95928"/>
            <a:ext cx="274320" cy="274320"/>
          </a:xfrm>
          <a:prstGeom prst="rect">
            <a:avLst/>
          </a:prstGeom>
        </p:spPr>
      </p:pic>
      <p:sp>
        <p:nvSpPr>
          <p:cNvPr id="17" name="text 47"/>
          <p:cNvSpPr txBox="1"/>
          <p:nvPr/>
        </p:nvSpPr>
        <p:spPr>
          <a:xfrm>
            <a:off x="1463040" y="37764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Show the work</a:t>
            </a:r>
            <a:endParaRPr lang="en-US" sz="1500" dirty="0"/>
          </a:p>
        </p:txBody>
      </p:sp>
      <p:sp>
        <p:nvSpPr>
          <p:cNvPr id="18" name="text 48"/>
          <p:cNvSpPr txBox="1"/>
          <p:nvPr/>
        </p:nvSpPr>
        <p:spPr>
          <a:xfrm>
            <a:off x="1463040" y="4114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Map of the floats, an auto-chosen chart, the result table and the exact SQL under every answer.</a:t>
            </a:r>
            <a:endParaRPr lang="en-US" sz="1250" dirty="0"/>
          </a:p>
        </p:txBody>
      </p:sp>
      <p:sp>
        <p:nvSpPr>
          <p:cNvPr id="19" name="card 49"/>
          <p:cNvSpPr/>
          <p:nvPr/>
        </p:nvSpPr>
        <p:spPr>
          <a:xfrm>
            <a:off x="548640" y="4800600"/>
            <a:ext cx="704088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icon bg 50"/>
          <p:cNvSpPr/>
          <p:nvPr/>
        </p:nvSpPr>
        <p:spPr>
          <a:xfrm>
            <a:off x="731520" y="5047488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icon 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84648"/>
            <a:ext cx="274320" cy="274320"/>
          </a:xfrm>
          <a:prstGeom prst="rect">
            <a:avLst/>
          </a:prstGeom>
        </p:spPr>
      </p:pic>
      <p:sp>
        <p:nvSpPr>
          <p:cNvPr id="22" name="text 52"/>
          <p:cNvSpPr txBox="1"/>
          <p:nvPr/>
        </p:nvSpPr>
        <p:spPr>
          <a:xfrm>
            <a:off x="1463040" y="49651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Serve fishermen too</a:t>
            </a:r>
            <a:endParaRPr lang="en-US" sz="1500" dirty="0"/>
          </a:p>
        </p:txBody>
      </p:sp>
      <p:sp>
        <p:nvSpPr>
          <p:cNvPr id="23" name="text 53"/>
          <p:cNvSpPr txBox="1"/>
          <p:nvPr/>
        </p:nvSpPr>
        <p:spPr>
          <a:xfrm>
            <a:off x="1463040" y="5303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Potential fishing zones from live satellite SST and chlorophyll, in fishermen's words and ports.</a:t>
            </a:r>
            <a:endParaRPr lang="en-US" sz="1250" dirty="0"/>
          </a:p>
        </p:txBody>
      </p:sp>
      <p:sp>
        <p:nvSpPr>
          <p:cNvPr id="24" name="card 54"/>
          <p:cNvSpPr/>
          <p:nvPr/>
        </p:nvSpPr>
        <p:spPr>
          <a:xfrm>
            <a:off x="7955280" y="1234440"/>
            <a:ext cx="3657600" cy="4617720"/>
          </a:xfrm>
          <a:prstGeom prst="roundRect">
            <a:avLst>
              <a:gd name="adj" fmla="val 30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55"/>
          <p:cNvSpPr txBox="1"/>
          <p:nvPr/>
        </p:nvSpPr>
        <p:spPr>
          <a:xfrm>
            <a:off x="81838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Who it is for</a:t>
            </a:r>
            <a:endParaRPr lang="en-US" sz="1300" dirty="0"/>
          </a:p>
        </p:txBody>
      </p:sp>
      <p:sp>
        <p:nvSpPr>
          <p:cNvPr id="26" name="icon bg 56"/>
          <p:cNvSpPr/>
          <p:nvPr/>
        </p:nvSpPr>
        <p:spPr>
          <a:xfrm>
            <a:off x="8183880" y="187452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7" name="icon 5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180" y="1988820"/>
            <a:ext cx="228600" cy="228600"/>
          </a:xfrm>
          <a:prstGeom prst="rect">
            <a:avLst/>
          </a:prstGeom>
        </p:spPr>
      </p:pic>
      <p:sp>
        <p:nvSpPr>
          <p:cNvPr id="28" name="text 58"/>
          <p:cNvSpPr txBox="1"/>
          <p:nvPr/>
        </p:nvSpPr>
        <p:spPr>
          <a:xfrm>
            <a:off x="877824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Students &amp; educators</a:t>
            </a:r>
            <a:endParaRPr lang="en-US" sz="1300" dirty="0"/>
          </a:p>
        </p:txBody>
      </p:sp>
      <p:sp>
        <p:nvSpPr>
          <p:cNvPr id="29" name="text 59"/>
          <p:cNvSpPr txBox="1"/>
          <p:nvPr/>
        </p:nvSpPr>
        <p:spPr>
          <a:xfrm>
            <a:off x="8778240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learn from real measurements</a:t>
            </a:r>
            <a:endParaRPr lang="en-US" sz="1150" dirty="0"/>
          </a:p>
        </p:txBody>
      </p:sp>
      <p:sp>
        <p:nvSpPr>
          <p:cNvPr id="30" name="icon bg 60"/>
          <p:cNvSpPr/>
          <p:nvPr/>
        </p:nvSpPr>
        <p:spPr>
          <a:xfrm>
            <a:off x="8183880" y="283464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1" name="icon 6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180" y="2948940"/>
            <a:ext cx="228600" cy="228600"/>
          </a:xfrm>
          <a:prstGeom prst="rect">
            <a:avLst/>
          </a:prstGeom>
        </p:spPr>
      </p:pic>
      <p:sp>
        <p:nvSpPr>
          <p:cNvPr id="32" name="text 62"/>
          <p:cNvSpPr txBox="1"/>
          <p:nvPr/>
        </p:nvSpPr>
        <p:spPr>
          <a:xfrm>
            <a:off x="877824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Fisheries officers &amp; fishermen</a:t>
            </a:r>
            <a:endParaRPr lang="en-US" sz="1300" dirty="0"/>
          </a:p>
        </p:txBody>
      </p:sp>
      <p:sp>
        <p:nvSpPr>
          <p:cNvPr id="33" name="text 63"/>
          <p:cNvSpPr txBox="1"/>
          <p:nvPr/>
        </p:nvSpPr>
        <p:spPr>
          <a:xfrm>
            <a:off x="877824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where is the water productive this week?</a:t>
            </a:r>
            <a:endParaRPr lang="en-US" sz="1150" dirty="0"/>
          </a:p>
        </p:txBody>
      </p:sp>
      <p:sp>
        <p:nvSpPr>
          <p:cNvPr id="34" name="icon bg 64"/>
          <p:cNvSpPr/>
          <p:nvPr/>
        </p:nvSpPr>
        <p:spPr>
          <a:xfrm>
            <a:off x="8183880" y="379476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5" name="icon 6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180" y="3909060"/>
            <a:ext cx="228600" cy="228600"/>
          </a:xfrm>
          <a:prstGeom prst="rect">
            <a:avLst/>
          </a:prstGeom>
        </p:spPr>
      </p:pic>
      <p:sp>
        <p:nvSpPr>
          <p:cNvPr id="36" name="text 66"/>
          <p:cNvSpPr txBox="1"/>
          <p:nvPr/>
        </p:nvSpPr>
        <p:spPr>
          <a:xfrm>
            <a:off x="877824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Policymakers</a:t>
            </a:r>
            <a:endParaRPr lang="en-US" sz="1300" dirty="0"/>
          </a:p>
        </p:txBody>
      </p:sp>
      <p:sp>
        <p:nvSpPr>
          <p:cNvPr id="37" name="text 67"/>
          <p:cNvSpPr txBox="1"/>
          <p:nvPr/>
        </p:nvSpPr>
        <p:spPr>
          <a:xfrm>
            <a:off x="8778240" y="4050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answers without a data team</a:t>
            </a:r>
            <a:endParaRPr lang="en-US" sz="1150" dirty="0"/>
          </a:p>
        </p:txBody>
      </p:sp>
      <p:sp>
        <p:nvSpPr>
          <p:cNvPr id="38" name="icon bg 68"/>
          <p:cNvSpPr/>
          <p:nvPr/>
        </p:nvSpPr>
        <p:spPr>
          <a:xfrm>
            <a:off x="8183880" y="475488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9" name="icon 6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8180" y="4869180"/>
            <a:ext cx="228600" cy="228600"/>
          </a:xfrm>
          <a:prstGeom prst="rect">
            <a:avLst/>
          </a:prstGeom>
        </p:spPr>
      </p:pic>
      <p:sp>
        <p:nvSpPr>
          <p:cNvPr id="40" name="text 70"/>
          <p:cNvSpPr txBox="1"/>
          <p:nvPr/>
        </p:nvSpPr>
        <p:spPr>
          <a:xfrm>
            <a:off x="877824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Researchers &amp; the public</a:t>
            </a:r>
            <a:endParaRPr lang="en-US" sz="1300" dirty="0"/>
          </a:p>
        </p:txBody>
      </p:sp>
      <p:sp>
        <p:nvSpPr>
          <p:cNvPr id="41" name="text 71"/>
          <p:cNvSpPr txBox="1"/>
          <p:nvPr/>
        </p:nvSpPr>
        <p:spPr>
          <a:xfrm>
            <a:off x="8778240" y="5010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quick looks, with the SQL to go deeper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 72"/>
          <p:cNvSpPr txBox="1"/>
          <p:nvPr/>
        </p:nvSpPr>
        <p:spPr>
          <a:xfrm>
            <a:off x="786384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chemeClr val="accent5"/>
                </a:solidFill>
              </a:rPr>
              <a:t>01</a:t>
            </a:r>
            <a:endParaRPr lang="en-US" sz="17000" dirty="0"/>
          </a:p>
        </p:txBody>
      </p:sp>
      <p:sp>
        <p:nvSpPr>
          <p:cNvPr id="3" name="section kicker 73"/>
          <p:cNvSpPr txBox="1"/>
          <p:nvPr/>
        </p:nvSpPr>
        <p:spPr>
          <a:xfrm>
            <a:off x="7315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514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FloatChat does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One question in → answer, map, chart, table and SQL out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74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WHAT IT DOES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one question to a grounded answer</a:t>
            </a:r>
            <a:endParaRPr lang="en-US" sz="3000" dirty="0"/>
          </a:p>
        </p:txBody>
      </p:sp>
      <p:sp>
        <p:nvSpPr>
          <p:cNvPr id="4" name="frame 75"/>
          <p:cNvSpPr/>
          <p:nvPr/>
        </p:nvSpPr>
        <p:spPr>
          <a:xfrm>
            <a:off x="493776" y="1179576"/>
            <a:ext cx="6510528" cy="4110228"/>
          </a:xfrm>
          <a:prstGeom prst="roundRect">
            <a:avLst>
              <a:gd name="adj" fmla="val 222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76" descr="C:\Users\Aditya\AppData\Local\Temp\claude\C--Users-Aditya-AppData-Roaming-Claude-scratch-workspaces-cd6a4156-9f3b-47f6-9837-f1cc0711a291-bd2a9cd6-7d84-4284-b93a-7971c0f98a00-scratch-2026-10-15-da1e4e\560efee6-9554-44b4-8f3b-96804c516904\scratchpad\deck\shots\05_salinity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0" cy="4000500"/>
          </a:xfrm>
          <a:prstGeom prst="rect">
            <a:avLst/>
          </a:prstGeom>
        </p:spPr>
      </p:pic>
      <p:sp>
        <p:nvSpPr>
          <p:cNvPr id="6" name="text 77"/>
          <p:cNvSpPr txBox="1"/>
          <p:nvPr/>
        </p:nvSpPr>
        <p:spPr>
          <a:xfrm>
            <a:off x="548640" y="53446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"Show me salinity near the equator in November 2023" on the live server — answer, satellite float map, SQL.</a:t>
            </a:r>
            <a:endParaRPr lang="en-US" sz="1100" dirty="0"/>
          </a:p>
        </p:txBody>
      </p:sp>
      <p:sp>
        <p:nvSpPr>
          <p:cNvPr id="7" name="step 78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79"/>
          <p:cNvSpPr txBox="1"/>
          <p:nvPr/>
        </p:nvSpPr>
        <p:spPr>
          <a:xfrm>
            <a:off x="7315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8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80"/>
          <p:cNvSpPr txBox="1"/>
          <p:nvPr/>
        </p:nvSpPr>
        <p:spPr>
          <a:xfrm>
            <a:off x="79552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 ask</a:t>
            </a:r>
            <a:endParaRPr lang="en-US" sz="1500" dirty="0"/>
          </a:p>
        </p:txBody>
      </p:sp>
      <p:sp>
        <p:nvSpPr>
          <p:cNvPr id="10" name="text 81"/>
          <p:cNvSpPr txBox="1"/>
          <p:nvPr/>
        </p:nvSpPr>
        <p:spPr>
          <a:xfrm>
            <a:off x="7955280" y="15636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typed, or tapped from the examples; language auto-detected</a:t>
            </a:r>
            <a:endParaRPr lang="en-US" sz="1250" dirty="0"/>
          </a:p>
        </p:txBody>
      </p:sp>
      <p:sp>
        <p:nvSpPr>
          <p:cNvPr id="11" name="step 82"/>
          <p:cNvSpPr/>
          <p:nvPr/>
        </p:nvSpPr>
        <p:spPr>
          <a:xfrm>
            <a:off x="731520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3"/>
          <p:cNvSpPr txBox="1"/>
          <p:nvPr/>
        </p:nvSpPr>
        <p:spPr>
          <a:xfrm>
            <a:off x="7315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8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84"/>
          <p:cNvSpPr txBox="1"/>
          <p:nvPr/>
        </p:nvSpPr>
        <p:spPr>
          <a:xfrm>
            <a:off x="79552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FloatChat writes one SQL query</a:t>
            </a:r>
            <a:endParaRPr lang="en-US" sz="1500" dirty="0"/>
          </a:p>
        </p:txBody>
      </p:sp>
      <p:sp>
        <p:nvSpPr>
          <p:cNvPr id="14" name="text 85"/>
          <p:cNvSpPr txBox="1"/>
          <p:nvPr/>
        </p:nvSpPr>
        <p:spPr>
          <a:xfrm>
            <a:off x="7955280" y="2752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LLM with schema retrieval, or the offline rule engine</a:t>
            </a:r>
            <a:endParaRPr lang="en-US" sz="1250" dirty="0"/>
          </a:p>
        </p:txBody>
      </p:sp>
      <p:sp>
        <p:nvSpPr>
          <p:cNvPr id="15" name="step 86"/>
          <p:cNvSpPr/>
          <p:nvPr/>
        </p:nvSpPr>
        <p:spPr>
          <a:xfrm>
            <a:off x="731520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87"/>
          <p:cNvSpPr txBox="1"/>
          <p:nvPr/>
        </p:nvSpPr>
        <p:spPr>
          <a:xfrm>
            <a:off x="7315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8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88"/>
          <p:cNvSpPr txBox="1"/>
          <p:nvPr/>
        </p:nvSpPr>
        <p:spPr>
          <a:xfrm>
            <a:off x="79552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query is validated and run</a:t>
            </a:r>
            <a:endParaRPr lang="en-US" sz="1500" dirty="0"/>
          </a:p>
        </p:txBody>
      </p:sp>
      <p:sp>
        <p:nvSpPr>
          <p:cNvPr id="18" name="text 89"/>
          <p:cNvSpPr txBox="1"/>
          <p:nvPr/>
        </p:nvSpPr>
        <p:spPr>
          <a:xfrm>
            <a:off x="7955280" y="39410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read-only, one SELECT, allow-listed tables, 5 s timeout</a:t>
            </a:r>
            <a:endParaRPr lang="en-US" sz="1250" dirty="0"/>
          </a:p>
        </p:txBody>
      </p:sp>
      <p:sp>
        <p:nvSpPr>
          <p:cNvPr id="19" name="step 90"/>
          <p:cNvSpPr/>
          <p:nvPr/>
        </p:nvSpPr>
        <p:spPr>
          <a:xfrm>
            <a:off x="7315200" y="4846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91"/>
          <p:cNvSpPr txBox="1"/>
          <p:nvPr/>
        </p:nvSpPr>
        <p:spPr>
          <a:xfrm>
            <a:off x="73152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8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92"/>
          <p:cNvSpPr txBox="1"/>
          <p:nvPr/>
        </p:nvSpPr>
        <p:spPr>
          <a:xfrm>
            <a:off x="795528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 get the answer and its evidence</a:t>
            </a:r>
            <a:endParaRPr lang="en-US" sz="1500" dirty="0"/>
          </a:p>
        </p:txBody>
      </p:sp>
      <p:sp>
        <p:nvSpPr>
          <p:cNvPr id="22" name="text 93"/>
          <p:cNvSpPr txBox="1"/>
          <p:nvPr/>
        </p:nvSpPr>
        <p:spPr>
          <a:xfrm>
            <a:off x="7955280" y="5129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one grounded sentence · map · chart · table · SQL · follow-up suggestions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94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WHAT IT DOES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Key features (all implemented)</a:t>
            </a:r>
            <a:endParaRPr lang="en-US" sz="3000" dirty="0"/>
          </a:p>
        </p:txBody>
      </p:sp>
      <p:sp>
        <p:nvSpPr>
          <p:cNvPr id="4" name="card 95"/>
          <p:cNvSpPr/>
          <p:nvPr/>
        </p:nvSpPr>
        <p:spPr>
          <a:xfrm>
            <a:off x="548640" y="123444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icon bg 96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43050"/>
            <a:ext cx="251460" cy="251460"/>
          </a:xfrm>
          <a:prstGeom prst="rect">
            <a:avLst/>
          </a:prstGeom>
        </p:spPr>
      </p:pic>
      <p:sp>
        <p:nvSpPr>
          <p:cNvPr id="7" name="text 98"/>
          <p:cNvSpPr txBox="1"/>
          <p:nvPr/>
        </p:nvSpPr>
        <p:spPr>
          <a:xfrm>
            <a:off x="1371600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Six input languages</a:t>
            </a:r>
            <a:endParaRPr lang="en-US" sz="1500" dirty="0"/>
          </a:p>
        </p:txBody>
      </p:sp>
      <p:sp>
        <p:nvSpPr>
          <p:cNvPr id="8" name="text 99"/>
          <p:cNvSpPr txBox="1"/>
          <p:nvPr/>
        </p:nvSpPr>
        <p:spPr>
          <a:xfrm>
            <a:off x="731520" y="2057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English + हिन्दी, தமிழ், বাংলা, తెలుగు, മലയാളം. langdetect picks the language; a gazetteer keeps place names intact before translation.</a:t>
            </a:r>
            <a:endParaRPr lang="en-US" sz="1200" dirty="0"/>
          </a:p>
        </p:txBody>
      </p:sp>
      <p:sp>
        <p:nvSpPr>
          <p:cNvPr id="9" name="card 100"/>
          <p:cNvSpPr/>
          <p:nvPr/>
        </p:nvSpPr>
        <p:spPr>
          <a:xfrm>
            <a:off x="4315968" y="123444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icon bg 101"/>
          <p:cNvSpPr/>
          <p:nvPr/>
        </p:nvSpPr>
        <p:spPr>
          <a:xfrm>
            <a:off x="4498848" y="14173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1" name="icon 10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78" y="1543050"/>
            <a:ext cx="251460" cy="251460"/>
          </a:xfrm>
          <a:prstGeom prst="rect">
            <a:avLst/>
          </a:prstGeom>
        </p:spPr>
      </p:pic>
      <p:sp>
        <p:nvSpPr>
          <p:cNvPr id="12" name="text 103"/>
          <p:cNvSpPr txBox="1"/>
          <p:nvPr/>
        </p:nvSpPr>
        <p:spPr>
          <a:xfrm>
            <a:off x="5138928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Grounded answers</a:t>
            </a:r>
            <a:endParaRPr lang="en-US" sz="1500" dirty="0"/>
          </a:p>
        </p:txBody>
      </p:sp>
      <p:sp>
        <p:nvSpPr>
          <p:cNvPr id="13" name="text 104"/>
          <p:cNvSpPr txBox="1"/>
          <p:nvPr/>
        </p:nvSpPr>
        <p:spPr>
          <a:xfrm>
            <a:off x="4498848" y="2057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sentence may only use numbers that appear in the returned rows or in the question — otherwise the safe template answer is used.</a:t>
            </a:r>
            <a:endParaRPr lang="en-US" sz="1200" dirty="0"/>
          </a:p>
        </p:txBody>
      </p:sp>
      <p:sp>
        <p:nvSpPr>
          <p:cNvPr id="14" name="card 105"/>
          <p:cNvSpPr/>
          <p:nvPr/>
        </p:nvSpPr>
        <p:spPr>
          <a:xfrm>
            <a:off x="8083296" y="123444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icon bg 106"/>
          <p:cNvSpPr/>
          <p:nvPr/>
        </p:nvSpPr>
        <p:spPr>
          <a:xfrm>
            <a:off x="8266176" y="14173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con 10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906" y="1543050"/>
            <a:ext cx="251460" cy="251460"/>
          </a:xfrm>
          <a:prstGeom prst="rect">
            <a:avLst/>
          </a:prstGeom>
        </p:spPr>
      </p:pic>
      <p:sp>
        <p:nvSpPr>
          <p:cNvPr id="17" name="text 108"/>
          <p:cNvSpPr txBox="1"/>
          <p:nvPr/>
        </p:nvSpPr>
        <p:spPr>
          <a:xfrm>
            <a:off x="8906256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Map · chart · table</a:t>
            </a:r>
            <a:endParaRPr lang="en-US" sz="1500" dirty="0"/>
          </a:p>
        </p:txBody>
      </p:sp>
      <p:sp>
        <p:nvSpPr>
          <p:cNvPr id="18" name="text 109"/>
          <p:cNvSpPr txBox="1"/>
          <p:nvPr/>
        </p:nvSpPr>
        <p:spPr>
          <a:xfrm>
            <a:off x="8266176" y="2057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Leaflet satellite map of the floats, a Plotly depth-profile or monthly trend chart, and the raw rows — chosen automatically from the result shape.</a:t>
            </a:r>
            <a:endParaRPr lang="en-US" sz="1200" dirty="0"/>
          </a:p>
        </p:txBody>
      </p:sp>
      <p:sp>
        <p:nvSpPr>
          <p:cNvPr id="19" name="card 110"/>
          <p:cNvSpPr/>
          <p:nvPr/>
        </p:nvSpPr>
        <p:spPr>
          <a:xfrm>
            <a:off x="548640" y="365760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icon bg 111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icon 11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966210"/>
            <a:ext cx="251460" cy="251460"/>
          </a:xfrm>
          <a:prstGeom prst="rect">
            <a:avLst/>
          </a:prstGeom>
        </p:spPr>
      </p:pic>
      <p:sp>
        <p:nvSpPr>
          <p:cNvPr id="22" name="text 113"/>
          <p:cNvSpPr txBox="1"/>
          <p:nvPr/>
        </p:nvSpPr>
        <p:spPr>
          <a:xfrm>
            <a:off x="1371600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 you can read</a:t>
            </a:r>
            <a:endParaRPr lang="en-US" sz="1500" dirty="0"/>
          </a:p>
        </p:txBody>
      </p:sp>
      <p:sp>
        <p:nvSpPr>
          <p:cNvPr id="23" name="text 114"/>
          <p:cNvSpPr txBox="1"/>
          <p:nvPr/>
        </p:nvSpPr>
        <p:spPr>
          <a:xfrm>
            <a:off x="731520" y="4480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exact query, the engine that wrote it (LLM or rule) and the source float IDs under every answer. History and saved questions.</a:t>
            </a:r>
            <a:endParaRPr lang="en-US" sz="1200" dirty="0"/>
          </a:p>
        </p:txBody>
      </p:sp>
      <p:sp>
        <p:nvSpPr>
          <p:cNvPr id="24" name="card 115"/>
          <p:cNvSpPr/>
          <p:nvPr/>
        </p:nvSpPr>
        <p:spPr>
          <a:xfrm>
            <a:off x="4315968" y="365760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icon bg 116"/>
          <p:cNvSpPr/>
          <p:nvPr/>
        </p:nvSpPr>
        <p:spPr>
          <a:xfrm>
            <a:off x="4498848" y="38404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6" name="icon 1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578" y="3966210"/>
            <a:ext cx="251460" cy="251460"/>
          </a:xfrm>
          <a:prstGeom prst="rect">
            <a:avLst/>
          </a:prstGeom>
        </p:spPr>
      </p:pic>
      <p:sp>
        <p:nvSpPr>
          <p:cNvPr id="27" name="text 118"/>
          <p:cNvSpPr txBox="1"/>
          <p:nvPr/>
        </p:nvSpPr>
        <p:spPr>
          <a:xfrm>
            <a:off x="5138928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Fisheries intelligence</a:t>
            </a:r>
            <a:endParaRPr lang="en-US" sz="1500" dirty="0"/>
          </a:p>
        </p:txBody>
      </p:sp>
      <p:sp>
        <p:nvSpPr>
          <p:cNvPr id="28" name="text 119"/>
          <p:cNvSpPr txBox="1"/>
          <p:nvPr/>
        </p:nvSpPr>
        <p:spPr>
          <a:xfrm>
            <a:off x="4498848" y="4480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Potential fishing zones derived nightly from NOAA OISST sea-surface temperature and VIIRS chlorophyll, around 9 Indian ports.</a:t>
            </a:r>
            <a:endParaRPr lang="en-US" sz="1200" dirty="0"/>
          </a:p>
        </p:txBody>
      </p:sp>
      <p:sp>
        <p:nvSpPr>
          <p:cNvPr id="29" name="card 120"/>
          <p:cNvSpPr/>
          <p:nvPr/>
        </p:nvSpPr>
        <p:spPr>
          <a:xfrm>
            <a:off x="8083296" y="365760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icon bg 121"/>
          <p:cNvSpPr/>
          <p:nvPr/>
        </p:nvSpPr>
        <p:spPr>
          <a:xfrm>
            <a:off x="8266176" y="38404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1" name="icon 12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906" y="3966210"/>
            <a:ext cx="251460" cy="251460"/>
          </a:xfrm>
          <a:prstGeom prst="rect">
            <a:avLst/>
          </a:prstGeom>
        </p:spPr>
      </p:pic>
      <p:sp>
        <p:nvSpPr>
          <p:cNvPr id="32" name="text 123"/>
          <p:cNvSpPr txBox="1"/>
          <p:nvPr/>
        </p:nvSpPr>
        <p:spPr>
          <a:xfrm>
            <a:off x="8906256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Works without an LLM</a:t>
            </a:r>
            <a:endParaRPr lang="en-US" sz="1500" dirty="0"/>
          </a:p>
        </p:txBody>
      </p:sp>
      <p:sp>
        <p:nvSpPr>
          <p:cNvPr id="33" name="text 124"/>
          <p:cNvSpPr txBox="1"/>
          <p:nvPr/>
        </p:nvSpPr>
        <p:spPr>
          <a:xfrm>
            <a:off x="8266176" y="4480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deterministic rule engine covers the core query families (aggregate, nearest-N, float profile, time-series, counts) when no model is configured.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 125"/>
          <p:cNvSpPr txBox="1"/>
          <p:nvPr/>
        </p:nvSpPr>
        <p:spPr>
          <a:xfrm>
            <a:off x="786384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chemeClr val="accent5"/>
                </a:solidFill>
              </a:rPr>
              <a:t>02</a:t>
            </a:r>
            <a:endParaRPr lang="en-US" sz="17000" dirty="0"/>
          </a:p>
        </p:txBody>
      </p:sp>
      <p:sp>
        <p:nvSpPr>
          <p:cNvPr id="3" name="section kicker 126"/>
          <p:cNvSpPr txBox="1"/>
          <p:nvPr/>
        </p:nvSpPr>
        <p:spPr>
          <a:xfrm>
            <a:off x="7315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SECTION 02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514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How it is built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Stack · architecture · request pipeline · data pipeline ·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127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Technology stack — verified from the repository</a:t>
            </a:r>
            <a:endParaRPr lang="en-US" sz="3000" dirty="0"/>
          </a:p>
        </p:txBody>
      </p:sp>
      <p:sp>
        <p:nvSpPr>
          <p:cNvPr id="4" name="card 128"/>
          <p:cNvSpPr/>
          <p:nvPr/>
        </p:nvSpPr>
        <p:spPr>
          <a:xfrm>
            <a:off x="548640" y="1188720"/>
            <a:ext cx="3611880" cy="2286000"/>
          </a:xfrm>
          <a:prstGeom prst="roundRect">
            <a:avLst>
              <a:gd name="adj" fmla="val 48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icon bg 129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1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67612"/>
            <a:ext cx="228600" cy="228600"/>
          </a:xfrm>
          <a:prstGeom prst="rect">
            <a:avLst/>
          </a:prstGeom>
        </p:spPr>
      </p:pic>
      <p:sp>
        <p:nvSpPr>
          <p:cNvPr id="7" name="text 131"/>
          <p:cNvSpPr txBox="1"/>
          <p:nvPr/>
        </p:nvSpPr>
        <p:spPr>
          <a:xfrm>
            <a:off x="132588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132"/>
          <p:cNvSpPr txBox="1"/>
          <p:nvPr/>
        </p:nvSpPr>
        <p:spPr>
          <a:xfrm>
            <a:off x="1325880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frontend/package.json</a:t>
            </a:r>
            <a:endParaRPr lang="en-US" sz="1000" dirty="0"/>
          </a:p>
        </p:txBody>
      </p:sp>
      <p:sp>
        <p:nvSpPr>
          <p:cNvPr id="9" name="stack list 133"/>
          <p:cNvSpPr txBox="1"/>
          <p:nvPr/>
        </p:nvSpPr>
        <p:spPr>
          <a:xfrm>
            <a:off x="731520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React 18 + TypeScript, Vite 5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Tailwind CSS 4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Leaflet 1.9 (satellite map)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Plotly.js (charts)</a:t>
            </a:r>
            <a:endParaRPr lang="en-US" sz="1150" dirty="0"/>
          </a:p>
        </p:txBody>
      </p:sp>
      <p:sp>
        <p:nvSpPr>
          <p:cNvPr id="10" name="card 134"/>
          <p:cNvSpPr/>
          <p:nvPr/>
        </p:nvSpPr>
        <p:spPr>
          <a:xfrm>
            <a:off x="4315968" y="1188720"/>
            <a:ext cx="3611880" cy="2286000"/>
          </a:xfrm>
          <a:prstGeom prst="roundRect">
            <a:avLst>
              <a:gd name="adj" fmla="val 48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icon bg 135"/>
          <p:cNvSpPr/>
          <p:nvPr/>
        </p:nvSpPr>
        <p:spPr>
          <a:xfrm>
            <a:off x="4498848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2" name="icon 1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1467612"/>
            <a:ext cx="228600" cy="228600"/>
          </a:xfrm>
          <a:prstGeom prst="rect">
            <a:avLst/>
          </a:prstGeom>
        </p:spPr>
      </p:pic>
      <p:sp>
        <p:nvSpPr>
          <p:cNvPr id="13" name="text 137"/>
          <p:cNvSpPr txBox="1"/>
          <p:nvPr/>
        </p:nvSpPr>
        <p:spPr>
          <a:xfrm>
            <a:off x="5093208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14" name="text 138"/>
          <p:cNvSpPr txBox="1"/>
          <p:nvPr/>
        </p:nvSpPr>
        <p:spPr>
          <a:xfrm>
            <a:off x="5093208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15" name="stack list 139"/>
          <p:cNvSpPr txBox="1"/>
          <p:nvPr/>
        </p:nvSpPr>
        <p:spPr>
          <a:xfrm>
            <a:off x="4498848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Python 3.11 · FastAPI · uvicorn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psycopg 3 (Postgres driver)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sqlglot (SQL parsing/validation)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langdetect · httpx · pandas</a:t>
            </a:r>
            <a:endParaRPr lang="en-US" sz="1150" dirty="0"/>
          </a:p>
        </p:txBody>
      </p:sp>
      <p:sp>
        <p:nvSpPr>
          <p:cNvPr id="16" name="card 140"/>
          <p:cNvSpPr/>
          <p:nvPr/>
        </p:nvSpPr>
        <p:spPr>
          <a:xfrm>
            <a:off x="8083296" y="1188720"/>
            <a:ext cx="3611880" cy="2286000"/>
          </a:xfrm>
          <a:prstGeom prst="roundRect">
            <a:avLst>
              <a:gd name="adj" fmla="val 48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icon bg 141"/>
          <p:cNvSpPr/>
          <p:nvPr/>
        </p:nvSpPr>
        <p:spPr>
          <a:xfrm>
            <a:off x="8266176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8" name="icon 14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467612"/>
            <a:ext cx="228600" cy="228600"/>
          </a:xfrm>
          <a:prstGeom prst="rect">
            <a:avLst/>
          </a:prstGeom>
        </p:spPr>
      </p:pic>
      <p:sp>
        <p:nvSpPr>
          <p:cNvPr id="19" name="text 143"/>
          <p:cNvSpPr txBox="1"/>
          <p:nvPr/>
        </p:nvSpPr>
        <p:spPr>
          <a:xfrm>
            <a:off x="8860536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</a:t>
            </a:r>
            <a:endParaRPr lang="en-US" sz="1400" dirty="0"/>
          </a:p>
        </p:txBody>
      </p:sp>
      <p:sp>
        <p:nvSpPr>
          <p:cNvPr id="20" name="text 144"/>
          <p:cNvSpPr txBox="1"/>
          <p:nvPr/>
        </p:nvSpPr>
        <p:spPr>
          <a:xfrm>
            <a:off x="8860536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db/schema.sql</a:t>
            </a:r>
            <a:endParaRPr lang="en-US" sz="1000" dirty="0"/>
          </a:p>
        </p:txBody>
      </p:sp>
      <p:sp>
        <p:nvSpPr>
          <p:cNvPr id="21" name="stack list 145"/>
          <p:cNvSpPr txBox="1"/>
          <p:nvPr/>
        </p:nvSpPr>
        <p:spPr>
          <a:xfrm>
            <a:off x="8266176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PostgreSQL 16 + PostGIS 3.4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GEOGRAPHY points + GiST index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Read-only role floatchat_ro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7 tables: 4 ARGO + 3 fisheries</a:t>
            </a:r>
            <a:endParaRPr lang="en-US" sz="1150" dirty="0"/>
          </a:p>
        </p:txBody>
      </p:sp>
      <p:sp>
        <p:nvSpPr>
          <p:cNvPr id="22" name="card 146"/>
          <p:cNvSpPr/>
          <p:nvPr/>
        </p:nvSpPr>
        <p:spPr>
          <a:xfrm>
            <a:off x="548640" y="3639312"/>
            <a:ext cx="3611880" cy="2286000"/>
          </a:xfrm>
          <a:prstGeom prst="roundRect">
            <a:avLst>
              <a:gd name="adj" fmla="val 48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icon bg 147"/>
          <p:cNvSpPr/>
          <p:nvPr/>
        </p:nvSpPr>
        <p:spPr>
          <a:xfrm>
            <a:off x="731520" y="3803904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4" name="icon 1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918204"/>
            <a:ext cx="228600" cy="228600"/>
          </a:xfrm>
          <a:prstGeom prst="rect">
            <a:avLst/>
          </a:prstGeom>
        </p:spPr>
      </p:pic>
      <p:sp>
        <p:nvSpPr>
          <p:cNvPr id="25" name="text 149"/>
          <p:cNvSpPr txBox="1"/>
          <p:nvPr/>
        </p:nvSpPr>
        <p:spPr>
          <a:xfrm>
            <a:off x="1325880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NL → SQL brain</a:t>
            </a:r>
            <a:endParaRPr lang="en-US" sz="1400" dirty="0"/>
          </a:p>
        </p:txBody>
      </p:sp>
      <p:sp>
        <p:nvSpPr>
          <p:cNvPr id="26" name="text 150"/>
          <p:cNvSpPr txBox="1"/>
          <p:nvPr/>
        </p:nvSpPr>
        <p:spPr>
          <a:xfrm>
            <a:off x="1325880" y="40325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app/nl2sql.py · rag/</a:t>
            </a:r>
            <a:endParaRPr lang="en-US" sz="1000" dirty="0"/>
          </a:p>
        </p:txBody>
      </p:sp>
      <p:sp>
        <p:nvSpPr>
          <p:cNvPr id="27" name="stack list 151"/>
          <p:cNvSpPr txBox="1"/>
          <p:nvPr/>
        </p:nvSpPr>
        <p:spPr>
          <a:xfrm>
            <a:off x="731520" y="437083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TF-IDF schema + example retrieval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LLM via OpenAI-compatible API: Groq, OpenAI, xAI, Ollama; or Anthropic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Rule-based fallback engine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Grounding check on the answer</a:t>
            </a:r>
            <a:endParaRPr lang="en-US" sz="1150" dirty="0"/>
          </a:p>
        </p:txBody>
      </p:sp>
      <p:sp>
        <p:nvSpPr>
          <p:cNvPr id="28" name="card 152"/>
          <p:cNvSpPr/>
          <p:nvPr/>
        </p:nvSpPr>
        <p:spPr>
          <a:xfrm>
            <a:off x="4315968" y="3639312"/>
            <a:ext cx="3611880" cy="2286000"/>
          </a:xfrm>
          <a:prstGeom prst="roundRect">
            <a:avLst>
              <a:gd name="adj" fmla="val 48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icon bg 153"/>
          <p:cNvSpPr/>
          <p:nvPr/>
        </p:nvSpPr>
        <p:spPr>
          <a:xfrm>
            <a:off x="4498848" y="3803904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0" name="icon 15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3918204"/>
            <a:ext cx="228600" cy="228600"/>
          </a:xfrm>
          <a:prstGeom prst="rect">
            <a:avLst/>
          </a:prstGeom>
        </p:spPr>
      </p:pic>
      <p:sp>
        <p:nvSpPr>
          <p:cNvPr id="31" name="text 155"/>
          <p:cNvSpPr txBox="1"/>
          <p:nvPr/>
        </p:nvSpPr>
        <p:spPr>
          <a:xfrm>
            <a:off x="5093208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ingestion</a:t>
            </a:r>
            <a:endParaRPr lang="en-US" sz="1400" dirty="0"/>
          </a:p>
        </p:txBody>
      </p:sp>
      <p:sp>
        <p:nvSpPr>
          <p:cNvPr id="32" name="text 156"/>
          <p:cNvSpPr txBox="1"/>
          <p:nvPr/>
        </p:nvSpPr>
        <p:spPr>
          <a:xfrm>
            <a:off x="5093208" y="40325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ingest/</a:t>
            </a:r>
            <a:endParaRPr lang="en-US" sz="1000" dirty="0"/>
          </a:p>
        </p:txBody>
      </p:sp>
      <p:sp>
        <p:nvSpPr>
          <p:cNvPr id="33" name="stack list 157"/>
          <p:cNvSpPr txBox="1"/>
          <p:nvPr/>
        </p:nvSpPr>
        <p:spPr>
          <a:xfrm>
            <a:off x="4498848" y="437083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argopy (Ifremer ERDDAP, expert mode)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xarray · netCDF4 · gsw (TEOS-10)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NOAA CoastWatch ERDDAP (OISST, VIIRS)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COPY bulk load</a:t>
            </a:r>
            <a:endParaRPr lang="en-US" sz="1150" dirty="0"/>
          </a:p>
        </p:txBody>
      </p:sp>
      <p:sp>
        <p:nvSpPr>
          <p:cNvPr id="34" name="card 158"/>
          <p:cNvSpPr/>
          <p:nvPr/>
        </p:nvSpPr>
        <p:spPr>
          <a:xfrm>
            <a:off x="8083296" y="3639312"/>
            <a:ext cx="3611880" cy="2286000"/>
          </a:xfrm>
          <a:prstGeom prst="roundRect">
            <a:avLst>
              <a:gd name="adj" fmla="val 48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icon bg 159"/>
          <p:cNvSpPr/>
          <p:nvPr/>
        </p:nvSpPr>
        <p:spPr>
          <a:xfrm>
            <a:off x="8266176" y="3803904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6" name="icon 16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76" y="3918204"/>
            <a:ext cx="228600" cy="228600"/>
          </a:xfrm>
          <a:prstGeom prst="rect">
            <a:avLst/>
          </a:prstGeom>
        </p:spPr>
      </p:pic>
      <p:sp>
        <p:nvSpPr>
          <p:cNvPr id="37" name="text 161"/>
          <p:cNvSpPr txBox="1"/>
          <p:nvPr/>
        </p:nvSpPr>
        <p:spPr>
          <a:xfrm>
            <a:off x="8860536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Ops</a:t>
            </a:r>
            <a:endParaRPr lang="en-US" sz="1400" dirty="0"/>
          </a:p>
        </p:txBody>
      </p:sp>
      <p:sp>
        <p:nvSpPr>
          <p:cNvPr id="38" name="text 162"/>
          <p:cNvSpPr txBox="1"/>
          <p:nvPr/>
        </p:nvSpPr>
        <p:spPr>
          <a:xfrm>
            <a:off x="8860536" y="40325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 · docker-compose.*.yml</a:t>
            </a:r>
            <a:endParaRPr lang="en-US" sz="1000" dirty="0"/>
          </a:p>
        </p:txBody>
      </p:sp>
      <p:sp>
        <p:nvSpPr>
          <p:cNvPr id="39" name="stack list 163"/>
          <p:cNvSpPr txBox="1"/>
          <p:nvPr/>
        </p:nvSpPr>
        <p:spPr>
          <a:xfrm>
            <a:off x="8266176" y="437083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Docker Compose (db · api · web)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Caddy 2 (static + /api proxy)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Oracle Cloud Always Free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cron nightly fisheries refresh · pytest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164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vm 165"/>
          <p:cNvSpPr/>
          <p:nvPr/>
        </p:nvSpPr>
        <p:spPr>
          <a:xfrm>
            <a:off x="2788920" y="1188720"/>
            <a:ext cx="882396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5" name="text 166"/>
          <p:cNvSpPr txBox="1"/>
          <p:nvPr/>
        </p:nvSpPr>
        <p:spPr>
          <a:xfrm>
            <a:off x="2971800" y="12618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Oracle Cloud VM · Docker Compose (3 containers) · ubuntu, 1 GB RAM + 4 GB swap</a:t>
            </a:r>
            <a:endParaRPr lang="en-US" sz="1050" dirty="0"/>
          </a:p>
        </p:txBody>
      </p:sp>
      <p:sp>
        <p:nvSpPr>
          <p:cNvPr id="6" name="box 167"/>
          <p:cNvSpPr/>
          <p:nvPr/>
        </p:nvSpPr>
        <p:spPr>
          <a:xfrm>
            <a:off x="54864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icon bg 168"/>
          <p:cNvSpPr/>
          <p:nvPr/>
        </p:nvSpPr>
        <p:spPr>
          <a:xfrm>
            <a:off x="1280160" y="219456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8" name="icon 1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308860"/>
            <a:ext cx="228600" cy="228600"/>
          </a:xfrm>
          <a:prstGeom prst="rect">
            <a:avLst/>
          </a:prstGeom>
        </p:spPr>
      </p:pic>
      <p:sp>
        <p:nvSpPr>
          <p:cNvPr id="9" name="text 170"/>
          <p:cNvSpPr txBox="1"/>
          <p:nvPr/>
        </p:nvSpPr>
        <p:spPr>
          <a:xfrm>
            <a:off x="64008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React SPA (Vite)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Leaflet · Plotly</a:t>
            </a:r>
            <a:endParaRPr lang="en-US" sz="1100" dirty="0"/>
          </a:p>
        </p:txBody>
      </p:sp>
      <p:sp>
        <p:nvSpPr>
          <p:cNvPr id="10" name="arrow 171"/>
          <p:cNvSpPr/>
          <p:nvPr/>
        </p:nvSpPr>
        <p:spPr>
          <a:xfrm>
            <a:off x="2468880" y="2788920"/>
            <a:ext cx="5486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box 172"/>
          <p:cNvSpPr/>
          <p:nvPr/>
        </p:nvSpPr>
        <p:spPr>
          <a:xfrm>
            <a:off x="3017520" y="210312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icon bg 173"/>
          <p:cNvSpPr/>
          <p:nvPr/>
        </p:nvSpPr>
        <p:spPr>
          <a:xfrm>
            <a:off x="3703320" y="219456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3" name="icon 17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308860"/>
            <a:ext cx="228600" cy="228600"/>
          </a:xfrm>
          <a:prstGeom prst="rect">
            <a:avLst/>
          </a:prstGeom>
        </p:spPr>
      </p:pic>
      <p:sp>
        <p:nvSpPr>
          <p:cNvPr id="14" name="text 175"/>
          <p:cNvSpPr txBox="1"/>
          <p:nvPr/>
        </p:nvSpPr>
        <p:spPr>
          <a:xfrm>
            <a:off x="306324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 · Caddy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serves frontend/dist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/api/* → api:8000</a:t>
            </a:r>
            <a:endParaRPr lang="en-US" sz="1100" dirty="0"/>
          </a:p>
        </p:txBody>
      </p:sp>
      <p:sp>
        <p:nvSpPr>
          <p:cNvPr id="15" name="arrow 176"/>
          <p:cNvSpPr/>
          <p:nvPr/>
        </p:nvSpPr>
        <p:spPr>
          <a:xfrm>
            <a:off x="4846320" y="2788920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api 177"/>
          <p:cNvSpPr/>
          <p:nvPr/>
        </p:nvSpPr>
        <p:spPr>
          <a:xfrm>
            <a:off x="5257800" y="1600200"/>
            <a:ext cx="338328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78"/>
          <p:cNvSpPr txBox="1"/>
          <p:nvPr/>
        </p:nvSpPr>
        <p:spPr>
          <a:xfrm>
            <a:off x="539496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api · FastAPI (app/main.py)</a:t>
            </a:r>
            <a:endParaRPr lang="en-US" sz="1200" dirty="0"/>
          </a:p>
        </p:txBody>
      </p:sp>
      <p:sp>
        <p:nvSpPr>
          <p:cNvPr id="18" name="box 179"/>
          <p:cNvSpPr/>
          <p:nvPr/>
        </p:nvSpPr>
        <p:spPr>
          <a:xfrm>
            <a:off x="5394960" y="1965960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80"/>
          <p:cNvSpPr txBox="1"/>
          <p:nvPr/>
        </p:nvSpPr>
        <p:spPr>
          <a:xfrm>
            <a:off x="5468112" y="196596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lang.py  detect + translate</a:t>
            </a:r>
            <a:endParaRPr lang="en-US" sz="1000" dirty="0"/>
          </a:p>
        </p:txBody>
      </p:sp>
      <p:sp>
        <p:nvSpPr>
          <p:cNvPr id="20" name="box 181"/>
          <p:cNvSpPr/>
          <p:nvPr/>
        </p:nvSpPr>
        <p:spPr>
          <a:xfrm>
            <a:off x="5394960" y="2350008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82"/>
          <p:cNvSpPr txBox="1"/>
          <p:nvPr/>
        </p:nvSpPr>
        <p:spPr>
          <a:xfrm>
            <a:off x="5468112" y="2350008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rag/retriever.py  TF-IDF schema docs</a:t>
            </a:r>
            <a:endParaRPr lang="en-US" sz="1000" dirty="0"/>
          </a:p>
        </p:txBody>
      </p:sp>
      <p:sp>
        <p:nvSpPr>
          <p:cNvPr id="22" name="box 183"/>
          <p:cNvSpPr/>
          <p:nvPr/>
        </p:nvSpPr>
        <p:spPr>
          <a:xfrm>
            <a:off x="5394960" y="2734056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184"/>
          <p:cNvSpPr txBox="1"/>
          <p:nvPr/>
        </p:nvSpPr>
        <p:spPr>
          <a:xfrm>
            <a:off x="5468112" y="273405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nl2sql.py  LLM (llm.py) | fallback_nl2sql.py</a:t>
            </a:r>
            <a:endParaRPr lang="en-US" sz="1000" dirty="0"/>
          </a:p>
        </p:txBody>
      </p:sp>
      <p:sp>
        <p:nvSpPr>
          <p:cNvPr id="24" name="box 185"/>
          <p:cNvSpPr/>
          <p:nvPr/>
        </p:nvSpPr>
        <p:spPr>
          <a:xfrm>
            <a:off x="5394960" y="3118104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186"/>
          <p:cNvSpPr txBox="1"/>
          <p:nvPr/>
        </p:nvSpPr>
        <p:spPr>
          <a:xfrm>
            <a:off x="5468112" y="3118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validate.py  sqlglot allow-list, LIMIT</a:t>
            </a:r>
            <a:endParaRPr lang="en-US" sz="1000" dirty="0"/>
          </a:p>
        </p:txBody>
      </p:sp>
      <p:sp>
        <p:nvSpPr>
          <p:cNvPr id="26" name="box 187"/>
          <p:cNvSpPr/>
          <p:nvPr/>
        </p:nvSpPr>
        <p:spPr>
          <a:xfrm>
            <a:off x="5394960" y="3502152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188"/>
          <p:cNvSpPr txBox="1"/>
          <p:nvPr/>
        </p:nvSpPr>
        <p:spPr>
          <a:xfrm>
            <a:off x="5468112" y="350215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execute.py  read-only, 5 s timeout</a:t>
            </a:r>
            <a:endParaRPr lang="en-US" sz="1000" dirty="0"/>
          </a:p>
        </p:txBody>
      </p:sp>
      <p:sp>
        <p:nvSpPr>
          <p:cNvPr id="28" name="box 189"/>
          <p:cNvSpPr/>
          <p:nvPr/>
        </p:nvSpPr>
        <p:spPr>
          <a:xfrm>
            <a:off x="5394960" y="3886200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190"/>
          <p:cNvSpPr txBox="1"/>
          <p:nvPr/>
        </p:nvSpPr>
        <p:spPr>
          <a:xfrm>
            <a:off x="5468112" y="388620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summarize.py  grounded sentence</a:t>
            </a:r>
            <a:endParaRPr lang="en-US" sz="1000" dirty="0"/>
          </a:p>
        </p:txBody>
      </p:sp>
      <p:sp>
        <p:nvSpPr>
          <p:cNvPr id="30" name="box 191"/>
          <p:cNvSpPr/>
          <p:nvPr/>
        </p:nvSpPr>
        <p:spPr>
          <a:xfrm>
            <a:off x="5394960" y="4270248"/>
            <a:ext cx="310896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192"/>
          <p:cNvSpPr txBox="1"/>
          <p:nvPr/>
        </p:nvSpPr>
        <p:spPr>
          <a:xfrm>
            <a:off x="5468112" y="4270248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viz.py · suggest.py  GeoJSON, series, follow-ups</a:t>
            </a:r>
            <a:endParaRPr lang="en-US" sz="1000" dirty="0"/>
          </a:p>
        </p:txBody>
      </p:sp>
      <p:sp>
        <p:nvSpPr>
          <p:cNvPr id="32" name="arrow 193"/>
          <p:cNvSpPr/>
          <p:nvPr/>
        </p:nvSpPr>
        <p:spPr>
          <a:xfrm>
            <a:off x="8641080" y="278892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box 194"/>
          <p:cNvSpPr/>
          <p:nvPr/>
        </p:nvSpPr>
        <p:spPr>
          <a:xfrm>
            <a:off x="9098280" y="1600200"/>
            <a:ext cx="2331720" cy="315468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icon bg 195"/>
          <p:cNvSpPr/>
          <p:nvPr/>
        </p:nvSpPr>
        <p:spPr>
          <a:xfrm>
            <a:off x="10030968" y="169164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5" name="icon 19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68" y="1805940"/>
            <a:ext cx="228600" cy="228600"/>
          </a:xfrm>
          <a:prstGeom prst="rect">
            <a:avLst/>
          </a:prstGeom>
        </p:spPr>
      </p:pic>
      <p:sp>
        <p:nvSpPr>
          <p:cNvPr id="36" name="text 197"/>
          <p:cNvSpPr txBox="1"/>
          <p:nvPr/>
        </p:nvSpPr>
        <p:spPr>
          <a:xfrm>
            <a:off x="91440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db · PostgreSQL 16 + PostGIS</a:t>
            </a:r>
            <a:endParaRPr lang="en-US" sz="1100" dirty="0"/>
          </a:p>
        </p:txBody>
      </p:sp>
      <p:sp>
        <p:nvSpPr>
          <p:cNvPr id="37" name="text 198"/>
          <p:cNvSpPr txBox="1"/>
          <p:nvPr/>
        </p:nvSpPr>
        <p:spPr>
          <a:xfrm>
            <a:off x="9189720" y="2514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floats · profiles · measurements · regions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pfz_advisories · sst_composites · chlorophyll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roles: floatchat_ro (SELECT only) · floatchat_admin (ingest)</a:t>
            </a:r>
            <a:endParaRPr lang="en-US" sz="1000" dirty="0"/>
          </a:p>
        </p:txBody>
      </p:sp>
      <p:sp>
        <p:nvSpPr>
          <p:cNvPr id="38" name="box 199"/>
          <p:cNvSpPr/>
          <p:nvPr/>
        </p:nvSpPr>
        <p:spPr>
          <a:xfrm>
            <a:off x="548640" y="525780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39" name="icon bg 200"/>
          <p:cNvSpPr/>
          <p:nvPr/>
        </p:nvSpPr>
        <p:spPr>
          <a:xfrm>
            <a:off x="685800" y="544068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40" name="icon 20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554980"/>
            <a:ext cx="228600" cy="228600"/>
          </a:xfrm>
          <a:prstGeom prst="rect">
            <a:avLst/>
          </a:prstGeom>
        </p:spPr>
      </p:pic>
      <p:sp>
        <p:nvSpPr>
          <p:cNvPr id="41" name="text 202"/>
          <p:cNvSpPr txBox="1"/>
          <p:nvPr/>
        </p:nvSpPr>
        <p:spPr>
          <a:xfrm>
            <a:off x="128016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LLM API (optional)</a:t>
            </a:r>
            <a:endParaRPr lang="en-US" sz="1200" dirty="0"/>
          </a:p>
        </p:txBody>
      </p:sp>
      <p:sp>
        <p:nvSpPr>
          <p:cNvPr id="42" name="text 203"/>
          <p:cNvSpPr txBox="1"/>
          <p:nvPr/>
        </p:nvSpPr>
        <p:spPr>
          <a:xfrm>
            <a:off x="128016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Groq / OpenAI / Anthropic / Ollama — nl2sql.py and summarize.py</a:t>
            </a:r>
            <a:endParaRPr lang="en-US" sz="1050" dirty="0"/>
          </a:p>
        </p:txBody>
      </p:sp>
      <p:sp>
        <p:nvSpPr>
          <p:cNvPr id="43" name="box 204"/>
          <p:cNvSpPr/>
          <p:nvPr/>
        </p:nvSpPr>
        <p:spPr>
          <a:xfrm>
            <a:off x="4343400" y="525780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44" name="icon bg 205"/>
          <p:cNvSpPr/>
          <p:nvPr/>
        </p:nvSpPr>
        <p:spPr>
          <a:xfrm>
            <a:off x="4480560" y="544068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45" name="icon 20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5554980"/>
            <a:ext cx="228600" cy="228600"/>
          </a:xfrm>
          <a:prstGeom prst="rect">
            <a:avLst/>
          </a:prstGeom>
        </p:spPr>
      </p:pic>
      <p:sp>
        <p:nvSpPr>
          <p:cNvPr id="46" name="text 207"/>
          <p:cNvSpPr txBox="1"/>
          <p:nvPr/>
        </p:nvSpPr>
        <p:spPr>
          <a:xfrm>
            <a:off x="507492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ARGO · Ifremer ERDDAP</a:t>
            </a:r>
            <a:endParaRPr lang="en-US" sz="1200" dirty="0"/>
          </a:p>
        </p:txBody>
      </p:sp>
      <p:sp>
        <p:nvSpPr>
          <p:cNvPr id="47" name="text 208"/>
          <p:cNvSpPr txBox="1"/>
          <p:nvPr/>
        </p:nvSpPr>
        <p:spPr>
          <a:xfrm>
            <a:off x="507492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argopy, expert mode → ingest/build_db.py (one-off, by month × tile)</a:t>
            </a:r>
            <a:endParaRPr lang="en-US" sz="1050" dirty="0"/>
          </a:p>
        </p:txBody>
      </p:sp>
      <p:sp>
        <p:nvSpPr>
          <p:cNvPr id="48" name="box 209"/>
          <p:cNvSpPr/>
          <p:nvPr/>
        </p:nvSpPr>
        <p:spPr>
          <a:xfrm>
            <a:off x="8138160" y="525780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49" name="icon bg 210"/>
          <p:cNvSpPr/>
          <p:nvPr/>
        </p:nvSpPr>
        <p:spPr>
          <a:xfrm>
            <a:off x="8275320" y="544068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50" name="icon 21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5554980"/>
            <a:ext cx="228600" cy="228600"/>
          </a:xfrm>
          <a:prstGeom prst="rect">
            <a:avLst/>
          </a:prstGeom>
        </p:spPr>
      </p:pic>
      <p:sp>
        <p:nvSpPr>
          <p:cNvPr id="51" name="text 212"/>
          <p:cNvSpPr txBox="1"/>
          <p:nvPr/>
        </p:nvSpPr>
        <p:spPr>
          <a:xfrm>
            <a:off x="886968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NOAA CoastWatch ERDDAP</a:t>
            </a:r>
            <a:endParaRPr lang="en-US" sz="1200" dirty="0"/>
          </a:p>
        </p:txBody>
      </p:sp>
      <p:sp>
        <p:nvSpPr>
          <p:cNvPr id="52" name="text 213"/>
          <p:cNvSpPr txBox="1"/>
          <p:nvPr/>
        </p:nvSpPr>
        <p:spPr>
          <a:xfrm>
            <a:off x="886968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OISST SST + VIIRS chlorophyll → fisheries_fetch.py, nightly cron</a:t>
            </a:r>
            <a:endParaRPr lang="en-US" sz="1050" dirty="0"/>
          </a:p>
        </p:txBody>
      </p:sp>
      <p:sp>
        <p:nvSpPr>
          <p:cNvPr id="53" name="arrow 214"/>
          <p:cNvSpPr/>
          <p:nvPr/>
        </p:nvSpPr>
        <p:spPr>
          <a:xfrm flipV="1">
            <a:off x="2286000" y="4754880"/>
            <a:ext cx="3566160" cy="502920"/>
          </a:xfrm>
          <a:prstGeom prst="line">
            <a:avLst/>
          </a:prstGeom>
          <a:noFill/>
          <a:ln w="1905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54" name="arrow 215"/>
          <p:cNvSpPr/>
          <p:nvPr/>
        </p:nvSpPr>
        <p:spPr>
          <a:xfrm flipV="1">
            <a:off x="7315200" y="4754880"/>
            <a:ext cx="2377440" cy="502920"/>
          </a:xfrm>
          <a:prstGeom prst="line">
            <a:avLst/>
          </a:prstGeom>
          <a:noFill/>
          <a:ln w="19050">
            <a:solidFill>
              <a:srgbClr val="6FB1FF"/>
            </a:solidFill>
            <a:prstDash val="solid"/>
            <a:tailEnd type="triangle"/>
          </a:ln>
        </p:spPr>
      </p:sp>
      <p:sp>
        <p:nvSpPr>
          <p:cNvPr id="55" name="arrow 216"/>
          <p:cNvSpPr/>
          <p:nvPr/>
        </p:nvSpPr>
        <p:spPr>
          <a:xfrm flipV="1">
            <a:off x="9875520" y="4754880"/>
            <a:ext cx="365760" cy="502920"/>
          </a:xfrm>
          <a:prstGeom prst="line">
            <a:avLst/>
          </a:prstGeom>
          <a:noFill/>
          <a:ln w="19050">
            <a:solidFill>
              <a:srgbClr val="6FB1F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17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happens when you ask a question  (POST /api/chat)</a:t>
            </a:r>
            <a:endParaRPr lang="en-US" sz="3000" dirty="0"/>
          </a:p>
        </p:txBody>
      </p:sp>
      <p:sp>
        <p:nvSpPr>
          <p:cNvPr id="4" name="num 218"/>
          <p:cNvSpPr/>
          <p:nvPr/>
        </p:nvSpPr>
        <p:spPr>
          <a:xfrm>
            <a:off x="548640" y="1261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19"/>
          <p:cNvSpPr txBox="1"/>
          <p:nvPr/>
        </p:nvSpPr>
        <p:spPr>
          <a:xfrm>
            <a:off x="54864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ick 220"/>
          <p:cNvSpPr/>
          <p:nvPr/>
        </p:nvSpPr>
        <p:spPr>
          <a:xfrm>
            <a:off x="758952" y="170078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ext 221"/>
          <p:cNvSpPr txBox="1"/>
          <p:nvPr/>
        </p:nvSpPr>
        <p:spPr>
          <a:xfrm>
            <a:off x="1143000" y="12070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Detect language, translate</a:t>
            </a:r>
            <a:endParaRPr lang="en-US" sz="1350" dirty="0"/>
          </a:p>
        </p:txBody>
      </p:sp>
      <p:sp>
        <p:nvSpPr>
          <p:cNvPr id="8" name="text 222"/>
          <p:cNvSpPr txBox="1"/>
          <p:nvPr/>
        </p:nvSpPr>
        <p:spPr>
          <a:xfrm>
            <a:off x="1143000" y="14813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lang.py: langdetect → gazetteer protects place names → English question</a:t>
            </a:r>
            <a:endParaRPr lang="en-US" sz="1050" dirty="0"/>
          </a:p>
        </p:txBody>
      </p:sp>
      <p:sp>
        <p:nvSpPr>
          <p:cNvPr id="9" name="num 223"/>
          <p:cNvSpPr/>
          <p:nvPr/>
        </p:nvSpPr>
        <p:spPr>
          <a:xfrm>
            <a:off x="548640" y="1993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224"/>
          <p:cNvSpPr txBox="1"/>
          <p:nvPr/>
        </p:nvSpPr>
        <p:spPr>
          <a:xfrm>
            <a:off x="54864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ick 225"/>
          <p:cNvSpPr/>
          <p:nvPr/>
        </p:nvSpPr>
        <p:spPr>
          <a:xfrm>
            <a:off x="758952" y="243230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text 226"/>
          <p:cNvSpPr txBox="1"/>
          <p:nvPr/>
        </p:nvSpPr>
        <p:spPr>
          <a:xfrm>
            <a:off x="1143000" y="19385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Retrieve context (RAG)</a:t>
            </a:r>
            <a:endParaRPr lang="en-US" sz="1350" dirty="0"/>
          </a:p>
        </p:txBody>
      </p:sp>
      <p:sp>
        <p:nvSpPr>
          <p:cNvPr id="13" name="text 227"/>
          <p:cNvSpPr txBox="1"/>
          <p:nvPr/>
        </p:nvSpPr>
        <p:spPr>
          <a:xfrm>
            <a:off x="1143000" y="22128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retriever.search(q, k=6): TF-IDF over schema docs + few-shot examples (rag/index.json)</a:t>
            </a:r>
            <a:endParaRPr lang="en-US" sz="1050" dirty="0"/>
          </a:p>
        </p:txBody>
      </p:sp>
      <p:sp>
        <p:nvSpPr>
          <p:cNvPr id="14" name="num 228"/>
          <p:cNvSpPr/>
          <p:nvPr/>
        </p:nvSpPr>
        <p:spPr>
          <a:xfrm>
            <a:off x="548640" y="2724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229"/>
          <p:cNvSpPr txBox="1"/>
          <p:nvPr/>
        </p:nvSpPr>
        <p:spPr>
          <a:xfrm>
            <a:off x="54864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ick 230"/>
          <p:cNvSpPr/>
          <p:nvPr/>
        </p:nvSpPr>
        <p:spPr>
          <a:xfrm>
            <a:off x="758952" y="316382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text 231"/>
          <p:cNvSpPr txBox="1"/>
          <p:nvPr/>
        </p:nvSpPr>
        <p:spPr>
          <a:xfrm>
            <a:off x="1143000" y="26700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Write one SQL statement</a:t>
            </a:r>
            <a:endParaRPr lang="en-US" sz="1350" dirty="0"/>
          </a:p>
        </p:txBody>
      </p:sp>
      <p:sp>
        <p:nvSpPr>
          <p:cNvPr id="18" name="text 232"/>
          <p:cNvSpPr txBox="1"/>
          <p:nvPr/>
        </p:nvSpPr>
        <p:spPr>
          <a:xfrm>
            <a:off x="1143000" y="29443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nl2sql.generate_sql: LLM with SYSTEM_PROMPT; rejected SQL → one retry; any failure → rule engine</a:t>
            </a:r>
            <a:endParaRPr lang="en-US" sz="1050" dirty="0"/>
          </a:p>
        </p:txBody>
      </p:sp>
      <p:sp>
        <p:nvSpPr>
          <p:cNvPr id="19" name="num 233"/>
          <p:cNvSpPr/>
          <p:nvPr/>
        </p:nvSpPr>
        <p:spPr>
          <a:xfrm>
            <a:off x="548640" y="345643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234"/>
          <p:cNvSpPr txBox="1"/>
          <p:nvPr/>
        </p:nvSpPr>
        <p:spPr>
          <a:xfrm>
            <a:off x="5486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ick 235"/>
          <p:cNvSpPr/>
          <p:nvPr/>
        </p:nvSpPr>
        <p:spPr>
          <a:xfrm>
            <a:off x="758952" y="389534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2" name="text 236"/>
          <p:cNvSpPr txBox="1"/>
          <p:nvPr/>
        </p:nvSpPr>
        <p:spPr>
          <a:xfrm>
            <a:off x="1143000" y="34015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Validate</a:t>
            </a:r>
            <a:endParaRPr lang="en-US" sz="1350" dirty="0"/>
          </a:p>
        </p:txBody>
      </p:sp>
      <p:sp>
        <p:nvSpPr>
          <p:cNvPr id="23" name="text 237"/>
          <p:cNvSpPr txBox="1"/>
          <p:nvPr/>
        </p:nvSpPr>
        <p:spPr>
          <a:xfrm>
            <a:off x="1143000" y="36758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validate_sql: no ';', keyword denylist, sqlglot parse, single SELECT, 7 allowed tables, LIMIT ≤ 500</a:t>
            </a:r>
            <a:endParaRPr lang="en-US" sz="1050" dirty="0"/>
          </a:p>
        </p:txBody>
      </p:sp>
      <p:sp>
        <p:nvSpPr>
          <p:cNvPr id="24" name="num 238"/>
          <p:cNvSpPr/>
          <p:nvPr/>
        </p:nvSpPr>
        <p:spPr>
          <a:xfrm>
            <a:off x="548640" y="41879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9"/>
          <p:cNvSpPr txBox="1"/>
          <p:nvPr/>
        </p:nvSpPr>
        <p:spPr>
          <a:xfrm>
            <a:off x="54864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ick 240"/>
          <p:cNvSpPr/>
          <p:nvPr/>
        </p:nvSpPr>
        <p:spPr>
          <a:xfrm>
            <a:off x="758952" y="462686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7" name="text 241"/>
          <p:cNvSpPr txBox="1"/>
          <p:nvPr/>
        </p:nvSpPr>
        <p:spPr>
          <a:xfrm>
            <a:off x="1143000" y="41330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Execute</a:t>
            </a:r>
            <a:endParaRPr lang="en-US" sz="1350" dirty="0"/>
          </a:p>
        </p:txBody>
      </p:sp>
      <p:sp>
        <p:nvSpPr>
          <p:cNvPr id="28" name="text 242"/>
          <p:cNvSpPr txBox="1"/>
          <p:nvPr/>
        </p:nvSpPr>
        <p:spPr>
          <a:xfrm>
            <a:off x="1143000" y="44074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execute.run_query: psycopg, default_transaction_read_only=on, statement_timeout=5000 ms</a:t>
            </a:r>
            <a:endParaRPr lang="en-US" sz="1050" dirty="0"/>
          </a:p>
        </p:txBody>
      </p:sp>
      <p:sp>
        <p:nvSpPr>
          <p:cNvPr id="29" name="num 243"/>
          <p:cNvSpPr/>
          <p:nvPr/>
        </p:nvSpPr>
        <p:spPr>
          <a:xfrm>
            <a:off x="548640" y="491947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44"/>
          <p:cNvSpPr txBox="1"/>
          <p:nvPr/>
        </p:nvSpPr>
        <p:spPr>
          <a:xfrm>
            <a:off x="548640" y="4919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ick 245"/>
          <p:cNvSpPr/>
          <p:nvPr/>
        </p:nvSpPr>
        <p:spPr>
          <a:xfrm>
            <a:off x="758952" y="535838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2" name="text 246"/>
          <p:cNvSpPr txBox="1"/>
          <p:nvPr/>
        </p:nvSpPr>
        <p:spPr>
          <a:xfrm>
            <a:off x="1143000" y="48646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Summarize (grounded)</a:t>
            </a:r>
            <a:endParaRPr lang="en-US" sz="1350" dirty="0"/>
          </a:p>
        </p:txBody>
      </p:sp>
      <p:sp>
        <p:nvSpPr>
          <p:cNvPr id="33" name="text 247"/>
          <p:cNvSpPr txBox="1"/>
          <p:nvPr/>
        </p:nvSpPr>
        <p:spPr>
          <a:xfrm>
            <a:off x="1143000" y="5138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summarize(): template sentence; LLM phrasing accepted only if its numbers ⊆ result numbers</a:t>
            </a:r>
            <a:endParaRPr lang="en-US" sz="1050" dirty="0"/>
          </a:p>
        </p:txBody>
      </p:sp>
      <p:sp>
        <p:nvSpPr>
          <p:cNvPr id="34" name="num 248"/>
          <p:cNvSpPr/>
          <p:nvPr/>
        </p:nvSpPr>
        <p:spPr>
          <a:xfrm>
            <a:off x="548640" y="56509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249"/>
          <p:cNvSpPr txBox="1"/>
          <p:nvPr/>
        </p:nvSpPr>
        <p:spPr>
          <a:xfrm>
            <a:off x="548640" y="5650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18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250"/>
          <p:cNvSpPr txBox="1"/>
          <p:nvPr/>
        </p:nvSpPr>
        <p:spPr>
          <a:xfrm>
            <a:off x="1143000" y="55961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Visualize + suggest</a:t>
            </a:r>
            <a:endParaRPr lang="en-US" sz="1350" dirty="0"/>
          </a:p>
        </p:txBody>
      </p:sp>
      <p:sp>
        <p:nvSpPr>
          <p:cNvPr id="37" name="text 251"/>
          <p:cNvSpPr txBox="1"/>
          <p:nvPr/>
        </p:nvSpPr>
        <p:spPr>
          <a:xfrm>
            <a:off x="1143000" y="58704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viz.infer_kind → map / profile / timeseries; build_geojson, build_series; 3 follow-up questions</a:t>
            </a:r>
            <a:endParaRPr lang="en-US" sz="1050" dirty="0"/>
          </a:p>
        </p:txBody>
      </p:sp>
      <p:sp>
        <p:nvSpPr>
          <p:cNvPr id="38" name="code bg 252"/>
          <p:cNvSpPr/>
          <p:nvPr/>
        </p:nvSpPr>
        <p:spPr>
          <a:xfrm>
            <a:off x="7498080" y="1188720"/>
            <a:ext cx="4114800" cy="5029200"/>
          </a:xfrm>
          <a:prstGeom prst="roundRect">
            <a:avLst>
              <a:gd name="adj" fmla="val 2222"/>
            </a:avLst>
          </a:prstGeom>
          <a:solidFill>
            <a:srgbClr val="05080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253"/>
          <p:cNvSpPr txBox="1"/>
          <p:nvPr/>
        </p:nvSpPr>
        <p:spPr>
          <a:xfrm>
            <a:off x="768096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— real reply from the live server</a:t>
            </a:r>
            <a:endParaRPr lang="en-US" sz="1100" dirty="0"/>
          </a:p>
        </p:txBody>
      </p:sp>
      <p:sp>
        <p:nvSpPr>
          <p:cNvPr id="40" name="code 254"/>
          <p:cNvSpPr txBox="1"/>
          <p:nvPr/>
        </p:nvSpPr>
        <p:spPr>
          <a:xfrm>
            <a:off x="7680960" y="1600200"/>
            <a:ext cx="3749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"Current fishing zones near Kochi",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"language": "en",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"engine":   "fallback",       // or "llm"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"sql":      "SELECT pz.zone_name, ... LIMIT 20",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  "Found 20 active fishing-zone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advisories — nearest is Kochi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PFZ-1 (likely sardine, mackerel);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SST 29 to 30.6 °C.",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"chart_kind": "map",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"columns": [...], "rows": [...],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"row_count": 20,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"series": 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"geojson": { "type": "FeatureCollection"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"float_ids": [],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"suggestions": ["...", "...", "..."]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55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Core implementation — NL→SQL with a safety net</a:t>
            </a:r>
            <a:endParaRPr lang="en-US" sz="3000" dirty="0"/>
          </a:p>
        </p:txBody>
      </p:sp>
      <p:sp>
        <p:nvSpPr>
          <p:cNvPr id="4" name="code bg 256"/>
          <p:cNvSpPr/>
          <p:nvPr/>
        </p:nvSpPr>
        <p:spPr>
          <a:xfrm>
            <a:off x="548640" y="1188720"/>
            <a:ext cx="5577840" cy="3886200"/>
          </a:xfrm>
          <a:prstGeom prst="roundRect">
            <a:avLst>
              <a:gd name="adj" fmla="val 2353"/>
            </a:avLst>
          </a:prstGeom>
          <a:solidFill>
            <a:srgbClr val="05080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57"/>
          <p:cNvSpPr txBox="1"/>
          <p:nvPr/>
        </p:nvSpPr>
        <p:spPr>
          <a:xfrm>
            <a:off x="731520" y="12984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app/nl2sql.py — LLM first, rule engine as the always-available fallback</a:t>
            </a:r>
            <a:endParaRPr lang="en-US" sz="1100" dirty="0"/>
          </a:p>
        </p:txBody>
      </p:sp>
      <p:sp>
        <p:nvSpPr>
          <p:cNvPr id="6" name="code 258"/>
          <p:cNvSpPr txBox="1"/>
          <p:nvPr/>
        </p:nvSpPr>
        <p:spPr>
          <a:xfrm>
            <a:off x="731520" y="16002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generate_sql(question):              # app/nl2sql.py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retriever.search(question, k=RAG_TOP_K)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(f"RELEVANT SCHEMA: {schema_docs}"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f"FEW-SHOT EXAMPLES: {example_docs}"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f"USER QUESTION: {question}  SQL:")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chat(SYSTEM_PROMPT, prompt)        # llm.py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validate_sql(raw), "llm", docs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SQLValidationError as e:          # retry once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raw = chat(SYSTEM_PROMPT, prompt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f"Your previous SQL was rejected: {e}")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validate_sql(raw), "llm", docs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Exception:                            # LLM off / failed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fallback_generate(question)            # rule engine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validate_sql(sql), "fallback", docs</a:t>
            </a:r>
            <a:endParaRPr lang="en-US" sz="950" dirty="0"/>
          </a:p>
        </p:txBody>
      </p:sp>
      <p:sp>
        <p:nvSpPr>
          <p:cNvPr id="7" name="code bg 259"/>
          <p:cNvSpPr/>
          <p:nvPr/>
        </p:nvSpPr>
        <p:spPr>
          <a:xfrm>
            <a:off x="6309360" y="1188720"/>
            <a:ext cx="5303520" cy="3886200"/>
          </a:xfrm>
          <a:prstGeom prst="roundRect">
            <a:avLst>
              <a:gd name="adj" fmla="val 2353"/>
            </a:avLst>
          </a:prstGeom>
          <a:solidFill>
            <a:srgbClr val="05080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260"/>
          <p:cNvSpPr txBox="1"/>
          <p:nvPr/>
        </p:nvSpPr>
        <p:spPr>
          <a:xfrm>
            <a:off x="6492240" y="1298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app/validate.py — parse with sqlglot, allow-list tables, cap rows</a:t>
            </a:r>
            <a:endParaRPr lang="en-US" sz="1100" dirty="0"/>
          </a:p>
        </p:txBody>
      </p:sp>
      <p:sp>
        <p:nvSpPr>
          <p:cNvPr id="9" name="code 261"/>
          <p:cNvSpPr txBox="1"/>
          <p:nvPr/>
        </p:nvSpPr>
        <p:spPr>
          <a:xfrm>
            <a:off x="6492240" y="1600200"/>
            <a:ext cx="4937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ALLOWED_TABLES = {"floats", "profiles", "measurements",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"regions", "pfz_advisories", "sst_composites", "chlorophyll"}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DENYLIST = re.compile(r"\b(insert|update|delete|drop|alter|"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r"create|truncate|grant|copy|pg_sleep|...)\b")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validate_sql(sql, max_rows=500):          # app/validate.py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";" in sql: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SQLValidationError("multiple statements")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DENYLIST.search(sql):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SQLValidationError("disallowed keyword")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 = sqlglot.parse(sql, read="postgres")[0]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isinstance(inner, (exp.Select, exp.Union, ...)):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SQLValidationError("only SELECT statements")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tree.find_all(exp.Table):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t.name.lower() not in ALLOWED_TABLES | cte_names: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SQLValidationError(f"table '{t.name}'")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limit and not _is_aggregate(inner):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inner.limit(max_rows)                 # force LIMIT 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tree.sql(dialect="postgres")</a:t>
            </a:r>
            <a:endParaRPr lang="en-US" sz="950" dirty="0"/>
          </a:p>
        </p:txBody>
      </p:sp>
      <p:sp>
        <p:nvSpPr>
          <p:cNvPr id="10" name="notes 262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Prompt = retrieved schema docs + few-shot examples + question → the model can only name real tables and columns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Validation is structural (AST), not string matching — CTEs, UNIONs and subqueries are walked; aggregates may skip the LIMIT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rule engine (fallback_nl2sql.py, ~350 lines) parses regions, ports, months, depths and the five query families with regular expressions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6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Grounded answers and read-only execution</a:t>
            </a:r>
            <a:endParaRPr lang="en-US" sz="3000" dirty="0"/>
          </a:p>
        </p:txBody>
      </p:sp>
      <p:sp>
        <p:nvSpPr>
          <p:cNvPr id="4" name="code bg 264"/>
          <p:cNvSpPr/>
          <p:nvPr/>
        </p:nvSpPr>
        <p:spPr>
          <a:xfrm>
            <a:off x="548640" y="1188720"/>
            <a:ext cx="5852160" cy="3566160"/>
          </a:xfrm>
          <a:prstGeom prst="roundRect">
            <a:avLst>
              <a:gd name="adj" fmla="val 2564"/>
            </a:avLst>
          </a:prstGeom>
          <a:solidFill>
            <a:srgbClr val="05080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65"/>
          <p:cNvSpPr txBox="1"/>
          <p:nvPr/>
        </p:nvSpPr>
        <p:spPr>
          <a:xfrm>
            <a:off x="731520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app/summarize.py — the model may phrase, never invent</a:t>
            </a:r>
            <a:endParaRPr lang="en-US" sz="1100" dirty="0"/>
          </a:p>
        </p:txBody>
      </p:sp>
      <p:sp>
        <p:nvSpPr>
          <p:cNvPr id="6" name="code 266"/>
          <p:cNvSpPr txBox="1"/>
          <p:nvPr/>
        </p:nvSpPr>
        <p:spPr>
          <a:xfrm>
            <a:off x="731520" y="160020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summarize(question, columns, rows, kind):   # app/summarize.py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_template_summary(question, columns, rows, kind)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rows: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numbers the answer may use: anything in the rows,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plus numbers the user typed (years, depths, coords)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 = _allowed_numbers(columns, rows) | _numbers(question)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candidate = chat("...write ONE short sentence. Use ONLY 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"numbers that appear in the rows...",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f"Question: {question}\n\nRows:\n{table}")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candidate.endswith((".", "!", "?"))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and _numbers(candidate) &lt;= allowed:     # grounding gate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candidate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                                      # always safe</a:t>
            </a:r>
            <a:endParaRPr lang="en-US" sz="950" dirty="0"/>
          </a:p>
        </p:txBody>
      </p:sp>
      <p:sp>
        <p:nvSpPr>
          <p:cNvPr id="7" name="code bg 267"/>
          <p:cNvSpPr/>
          <p:nvPr/>
        </p:nvSpPr>
        <p:spPr>
          <a:xfrm>
            <a:off x="6583680" y="118872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05080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268"/>
          <p:cNvSpPr txBox="1"/>
          <p:nvPr/>
        </p:nvSpPr>
        <p:spPr>
          <a:xfrm>
            <a:off x="6766560" y="1298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app/execute.py · db/roles.sql — three layers of protection</a:t>
            </a:r>
            <a:endParaRPr lang="en-US" sz="1100" dirty="0"/>
          </a:p>
        </p:txBody>
      </p:sp>
      <p:sp>
        <p:nvSpPr>
          <p:cNvPr id="9" name="code 269"/>
          <p:cNvSpPr txBox="1"/>
          <p:nvPr/>
        </p:nvSpPr>
        <p:spPr>
          <a:xfrm>
            <a:off x="6766560" y="16002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run_query(sql):                      # app/execute.py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 = ("-c default_transaction_read_only=on 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f"-c statement_timeout={TIMEOUT_MS}")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psycopg.connect(DATABASE_URL, options=options,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connect_timeout=5) as conn: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conn.execute(sql)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{"columns": [d.name for d in cur.description],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"rows": [[_jsonable(v) for v in r] for r in cur]}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db/roles.sql: the API's role can only read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floatchat_ro LOGIN PASSWORD '...';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ALL TABLES IN SCHEMA public TO floatchat_ro;</a:t>
            </a:r>
            <a:endParaRPr lang="en-US" sz="950" dirty="0"/>
          </a:p>
        </p:txBody>
      </p:sp>
      <p:sp>
        <p:nvSpPr>
          <p:cNvPr id="10" name="text 270"/>
          <p:cNvSpPr txBox="1"/>
          <p:nvPr/>
        </p:nvSpPr>
        <p:spPr>
          <a:xfrm>
            <a:off x="5486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API endpoints (app/main.py)</a:t>
            </a:r>
            <a:endParaRPr lang="en-US" sz="1300" dirty="0"/>
          </a:p>
        </p:txBody>
      </p:sp>
      <p:sp>
        <p:nvSpPr>
          <p:cNvPr id="11" name="text 271"/>
          <p:cNvSpPr txBox="1"/>
          <p:nvPr/>
        </p:nvSpPr>
        <p:spPr>
          <a:xfrm>
            <a:off x="548640" y="5285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050" dirty="0"/>
          </a:p>
        </p:txBody>
      </p:sp>
      <p:sp>
        <p:nvSpPr>
          <p:cNvPr id="12" name="text 272"/>
          <p:cNvSpPr txBox="1"/>
          <p:nvPr/>
        </p:nvSpPr>
        <p:spPr>
          <a:xfrm>
            <a:off x="2514600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API + DB status (header pill)</a:t>
            </a:r>
            <a:endParaRPr lang="en-US" sz="1100" dirty="0"/>
          </a:p>
        </p:txBody>
      </p:sp>
      <p:sp>
        <p:nvSpPr>
          <p:cNvPr id="13" name="text 273"/>
          <p:cNvSpPr txBox="1"/>
          <p:nvPr/>
        </p:nvSpPr>
        <p:spPr>
          <a:xfrm>
            <a:off x="4251960" y="5285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</a:t>
            </a:r>
            <a:endParaRPr lang="en-US" sz="1050" dirty="0"/>
          </a:p>
        </p:txBody>
      </p:sp>
      <p:sp>
        <p:nvSpPr>
          <p:cNvPr id="14" name="text 274"/>
          <p:cNvSpPr txBox="1"/>
          <p:nvPr/>
        </p:nvSpPr>
        <p:spPr>
          <a:xfrm>
            <a:off x="6217920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full pipeline → answer, map, chart, SQL</a:t>
            </a:r>
            <a:endParaRPr lang="en-US" sz="1100" dirty="0"/>
          </a:p>
        </p:txBody>
      </p:sp>
      <p:sp>
        <p:nvSpPr>
          <p:cNvPr id="15" name="text 275"/>
          <p:cNvSpPr txBox="1"/>
          <p:nvPr/>
        </p:nvSpPr>
        <p:spPr>
          <a:xfrm>
            <a:off x="7955280" y="5285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/query</a:t>
            </a:r>
            <a:endParaRPr lang="en-US" sz="1050" dirty="0"/>
          </a:p>
        </p:txBody>
      </p:sp>
      <p:sp>
        <p:nvSpPr>
          <p:cNvPr id="16" name="text 276"/>
          <p:cNvSpPr txBox="1"/>
          <p:nvPr/>
        </p:nvSpPr>
        <p:spPr>
          <a:xfrm>
            <a:off x="9921240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run a user-edited SQL through the same validator</a:t>
            </a:r>
            <a:endParaRPr lang="en-US" sz="1100" dirty="0"/>
          </a:p>
        </p:txBody>
      </p:sp>
      <p:sp>
        <p:nvSpPr>
          <p:cNvPr id="17" name="text 277"/>
          <p:cNvSpPr txBox="1"/>
          <p:nvPr/>
        </p:nvSpPr>
        <p:spPr>
          <a:xfrm>
            <a:off x="548640" y="5788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/floats</a:t>
            </a:r>
            <a:endParaRPr lang="en-US" sz="1050" dirty="0"/>
          </a:p>
        </p:txBody>
      </p:sp>
      <p:sp>
        <p:nvSpPr>
          <p:cNvPr id="18" name="text 278"/>
          <p:cNvSpPr txBox="1"/>
          <p:nvPr/>
        </p:nvSpPr>
        <p:spPr>
          <a:xfrm>
            <a:off x="2514600" y="5788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float positions for the context map</a:t>
            </a:r>
            <a:endParaRPr lang="en-US" sz="1100" dirty="0"/>
          </a:p>
        </p:txBody>
      </p:sp>
      <p:sp>
        <p:nvSpPr>
          <p:cNvPr id="19" name="text 279"/>
          <p:cNvSpPr txBox="1"/>
          <p:nvPr/>
        </p:nvSpPr>
        <p:spPr>
          <a:xfrm>
            <a:off x="4251960" y="5788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/data/overview</a:t>
            </a:r>
            <a:endParaRPr lang="en-US" sz="1050" dirty="0"/>
          </a:p>
        </p:txBody>
      </p:sp>
      <p:sp>
        <p:nvSpPr>
          <p:cNvPr id="20" name="text 280"/>
          <p:cNvSpPr txBox="1"/>
          <p:nvPr/>
        </p:nvSpPr>
        <p:spPr>
          <a:xfrm>
            <a:off x="6217920" y="5788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row counts, date range, table previews, sources</a:t>
            </a:r>
            <a:endParaRPr lang="en-US" sz="1100" dirty="0"/>
          </a:p>
        </p:txBody>
      </p:sp>
      <p:sp>
        <p:nvSpPr>
          <p:cNvPr id="21" name="text 281"/>
          <p:cNvSpPr txBox="1"/>
          <p:nvPr/>
        </p:nvSpPr>
        <p:spPr>
          <a:xfrm>
            <a:off x="7955280" y="5788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/fisheries/overview</a:t>
            </a:r>
            <a:endParaRPr lang="en-US" sz="1050" dirty="0"/>
          </a:p>
        </p:txBody>
      </p:sp>
      <p:sp>
        <p:nvSpPr>
          <p:cNvPr id="22" name="text 282"/>
          <p:cNvSpPr txBox="1"/>
          <p:nvPr/>
        </p:nvSpPr>
        <p:spPr>
          <a:xfrm>
            <a:off x="9921240" y="5788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PFZ / SST / chlorophyll status + sources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28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pipeline — from ARGO and NOAA servers to PostGIS</a:t>
            </a:r>
            <a:endParaRPr lang="en-US" sz="3000" dirty="0"/>
          </a:p>
        </p:txBody>
      </p:sp>
      <p:sp>
        <p:nvSpPr>
          <p:cNvPr id="4" name="card 284"/>
          <p:cNvSpPr/>
          <p:nvPr/>
        </p:nvSpPr>
        <p:spPr>
          <a:xfrm>
            <a:off x="548640" y="118872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icon bg 285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2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67612"/>
            <a:ext cx="228600" cy="228600"/>
          </a:xfrm>
          <a:prstGeom prst="rect">
            <a:avLst/>
          </a:prstGeom>
        </p:spPr>
      </p:pic>
      <p:sp>
        <p:nvSpPr>
          <p:cNvPr id="7" name="text 287"/>
          <p:cNvSpPr txBox="1"/>
          <p:nvPr/>
        </p:nvSpPr>
        <p:spPr>
          <a:xfrm>
            <a:off x="13258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Fetch</a:t>
            </a:r>
            <a:endParaRPr lang="en-US" sz="1500" dirty="0"/>
          </a:p>
        </p:txBody>
      </p:sp>
      <p:sp>
        <p:nvSpPr>
          <p:cNvPr id="8" name="text 288"/>
          <p:cNvSpPr txBox="1"/>
          <p:nvPr/>
        </p:nvSpPr>
        <p:spPr>
          <a:xfrm>
            <a:off x="132588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ingest/fetch.py</a:t>
            </a:r>
            <a:endParaRPr lang="en-US" sz="1000" dirty="0"/>
          </a:p>
        </p:txBody>
      </p:sp>
      <p:sp>
        <p:nvSpPr>
          <p:cNvPr id="9" name="text 289"/>
          <p:cNvSpPr txBox="1"/>
          <p:nvPr/>
        </p:nvSpPr>
        <p:spPr>
          <a:xfrm>
            <a:off x="731520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argopy DataFetcher(src='erddap', mode='expert') per month × 25° tile, 3 retries</a:t>
            </a:r>
            <a:endParaRPr lang="en-US" sz="1150" dirty="0"/>
          </a:p>
        </p:txBody>
      </p:sp>
      <p:sp>
        <p:nvSpPr>
          <p:cNvPr id="10" name="arrow 290"/>
          <p:cNvSpPr/>
          <p:nvPr/>
        </p:nvSpPr>
        <p:spPr>
          <a:xfrm>
            <a:off x="3200400" y="2331720"/>
            <a:ext cx="16459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card 291"/>
          <p:cNvSpPr/>
          <p:nvPr/>
        </p:nvSpPr>
        <p:spPr>
          <a:xfrm>
            <a:off x="3364992" y="118872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icon bg 292"/>
          <p:cNvSpPr/>
          <p:nvPr/>
        </p:nvSpPr>
        <p:spPr>
          <a:xfrm>
            <a:off x="3547872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3" name="icon 29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467612"/>
            <a:ext cx="228600" cy="228600"/>
          </a:xfrm>
          <a:prstGeom prst="rect">
            <a:avLst/>
          </a:prstGeom>
        </p:spPr>
      </p:pic>
      <p:sp>
        <p:nvSpPr>
          <p:cNvPr id="14" name="text 294"/>
          <p:cNvSpPr txBox="1"/>
          <p:nvPr/>
        </p:nvSpPr>
        <p:spPr>
          <a:xfrm>
            <a:off x="4142232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</a:t>
            </a:r>
            <a:endParaRPr lang="en-US" sz="1500" dirty="0"/>
          </a:p>
        </p:txBody>
      </p:sp>
      <p:sp>
        <p:nvSpPr>
          <p:cNvPr id="15" name="text 295"/>
          <p:cNvSpPr txBox="1"/>
          <p:nvPr/>
        </p:nvSpPr>
        <p:spPr>
          <a:xfrm>
            <a:off x="414223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ingest/transform.py</a:t>
            </a:r>
            <a:endParaRPr lang="en-US" sz="1000" dirty="0"/>
          </a:p>
        </p:txBody>
      </p:sp>
      <p:sp>
        <p:nvSpPr>
          <p:cNvPr id="16" name="text 296"/>
          <p:cNvSpPr txBox="1"/>
          <p:nvPr/>
        </p:nvSpPr>
        <p:spPr>
          <a:xfrm>
            <a:off x="3547872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flatten to one row per level · keep QC ∈ {1,2} · prefer *_ADJUSTED · ascending only · depth_m = gsw.z_from_p</a:t>
            </a:r>
            <a:endParaRPr lang="en-US" sz="1150" dirty="0"/>
          </a:p>
        </p:txBody>
      </p:sp>
      <p:sp>
        <p:nvSpPr>
          <p:cNvPr id="17" name="arrow 297"/>
          <p:cNvSpPr/>
          <p:nvPr/>
        </p:nvSpPr>
        <p:spPr>
          <a:xfrm>
            <a:off x="6016752" y="2331720"/>
            <a:ext cx="16459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card 298"/>
          <p:cNvSpPr/>
          <p:nvPr/>
        </p:nvSpPr>
        <p:spPr>
          <a:xfrm>
            <a:off x="6181344" y="118872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icon bg 299"/>
          <p:cNvSpPr/>
          <p:nvPr/>
        </p:nvSpPr>
        <p:spPr>
          <a:xfrm>
            <a:off x="6364224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0" name="icon 3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1467612"/>
            <a:ext cx="228600" cy="228600"/>
          </a:xfrm>
          <a:prstGeom prst="rect">
            <a:avLst/>
          </a:prstGeom>
        </p:spPr>
      </p:pic>
      <p:sp>
        <p:nvSpPr>
          <p:cNvPr id="21" name="text 301"/>
          <p:cNvSpPr txBox="1"/>
          <p:nvPr/>
        </p:nvSpPr>
        <p:spPr>
          <a:xfrm>
            <a:off x="6958584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Load</a:t>
            </a:r>
            <a:endParaRPr lang="en-US" sz="1500" dirty="0"/>
          </a:p>
        </p:txBody>
      </p:sp>
      <p:sp>
        <p:nvSpPr>
          <p:cNvPr id="22" name="text 302"/>
          <p:cNvSpPr txBox="1"/>
          <p:nvPr/>
        </p:nvSpPr>
        <p:spPr>
          <a:xfrm>
            <a:off x="6958584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ingest/load.py</a:t>
            </a:r>
            <a:endParaRPr lang="en-US" sz="1000" dirty="0"/>
          </a:p>
        </p:txBody>
      </p:sp>
      <p:sp>
        <p:nvSpPr>
          <p:cNvPr id="23" name="text 303"/>
          <p:cNvSpPr txBox="1"/>
          <p:nvPr/>
        </p:nvSpPr>
        <p:spPr>
          <a:xfrm>
            <a:off x="6364224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COPY bulk insert · profiles ON CONFLICT DO NOTHING · GEOGRAPHY points · GiST + time indexes</a:t>
            </a:r>
            <a:endParaRPr lang="en-US" sz="1150" dirty="0"/>
          </a:p>
        </p:txBody>
      </p:sp>
      <p:sp>
        <p:nvSpPr>
          <p:cNvPr id="24" name="arrow 304"/>
          <p:cNvSpPr/>
          <p:nvPr/>
        </p:nvSpPr>
        <p:spPr>
          <a:xfrm>
            <a:off x="8833104" y="2331720"/>
            <a:ext cx="16459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card 305"/>
          <p:cNvSpPr/>
          <p:nvPr/>
        </p:nvSpPr>
        <p:spPr>
          <a:xfrm>
            <a:off x="8997696" y="118872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icon bg 306"/>
          <p:cNvSpPr/>
          <p:nvPr/>
        </p:nvSpPr>
        <p:spPr>
          <a:xfrm>
            <a:off x="9180576" y="1353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7" name="icon 30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76" y="1467612"/>
            <a:ext cx="228600" cy="228600"/>
          </a:xfrm>
          <a:prstGeom prst="rect">
            <a:avLst/>
          </a:prstGeom>
        </p:spPr>
      </p:pic>
      <p:sp>
        <p:nvSpPr>
          <p:cNvPr id="28" name="text 308"/>
          <p:cNvSpPr txBox="1"/>
          <p:nvPr/>
        </p:nvSpPr>
        <p:spPr>
          <a:xfrm>
            <a:off x="9774936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Serve</a:t>
            </a:r>
            <a:endParaRPr lang="en-US" sz="1500" dirty="0"/>
          </a:p>
        </p:txBody>
      </p:sp>
      <p:sp>
        <p:nvSpPr>
          <p:cNvPr id="29" name="text 309"/>
          <p:cNvSpPr txBox="1"/>
          <p:nvPr/>
        </p:nvSpPr>
        <p:spPr>
          <a:xfrm>
            <a:off x="9774936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db/schema.sql</a:t>
            </a:r>
            <a:endParaRPr lang="en-US" sz="1000" dirty="0"/>
          </a:p>
        </p:txBody>
      </p:sp>
      <p:sp>
        <p:nvSpPr>
          <p:cNvPr id="30" name="text 310"/>
          <p:cNvSpPr txBox="1"/>
          <p:nvPr/>
        </p:nvSpPr>
        <p:spPr>
          <a:xfrm>
            <a:off x="9180576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floats → profiles (1 per float cycle) → measurements (1 per depth level); regions polygons</a:t>
            </a:r>
            <a:endParaRPr lang="en-US" sz="1150" dirty="0"/>
          </a:p>
        </p:txBody>
      </p:sp>
      <p:sp>
        <p:nvSpPr>
          <p:cNvPr id="31" name="card 311"/>
          <p:cNvSpPr/>
          <p:nvPr/>
        </p:nvSpPr>
        <p:spPr>
          <a:xfrm>
            <a:off x="548640" y="3749040"/>
            <a:ext cx="6949440" cy="2514600"/>
          </a:xfrm>
          <a:prstGeom prst="roundRect">
            <a:avLst>
              <a:gd name="adj" fmla="val 4364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icon bg 312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3" name="icon 31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046220"/>
            <a:ext cx="228600" cy="228600"/>
          </a:xfrm>
          <a:prstGeom prst="rect">
            <a:avLst/>
          </a:prstGeom>
        </p:spPr>
      </p:pic>
      <p:sp>
        <p:nvSpPr>
          <p:cNvPr id="34" name="text 314"/>
          <p:cNvSpPr txBox="1"/>
          <p:nvPr/>
        </p:nvSpPr>
        <p:spPr>
          <a:xfrm>
            <a:off x="1325880" y="39593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Fisheries layer — ingest/fisheries_fetch.py (nightly cron, 03:30 UTC)</a:t>
            </a:r>
            <a:endParaRPr lang="en-US" sz="1350" dirty="0"/>
          </a:p>
        </p:txBody>
      </p:sp>
      <p:sp>
        <p:nvSpPr>
          <p:cNvPr id="35" name="fish list 315"/>
          <p:cNvSpPr txBox="1"/>
          <p:nvPr/>
        </p:nvSpPr>
        <p:spPr>
          <a:xfrm>
            <a:off x="777240" y="434340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NOAA OISST v2.1 daily SST + anomaly (ncdcOisst21NrtAgg), last 14 days, 0.5° stride, box 5–24°N 66–92°E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NOAA VIIRS chlorophyll-a (nesdisVHNSQchlaDaily), last 7 days, cloud-free cells only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PFZ derivation: warm SST band + high chlorophyll within 150 km of 9 ports (Kochi, Chennai, Visakhapatnam, Mumbai…); ≥ 25 km offshore, ≤ 15 mg/m³, 3 zones per port, valid 3 days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Re-runs replace the window, so tables never grow unbounded; every row carries a source tag</a:t>
            </a:r>
            <a:endParaRPr lang="en-US" sz="1150" dirty="0"/>
          </a:p>
        </p:txBody>
      </p:sp>
      <p:sp>
        <p:nvSpPr>
          <p:cNvPr id="36" name="card 316"/>
          <p:cNvSpPr/>
          <p:nvPr/>
        </p:nvSpPr>
        <p:spPr>
          <a:xfrm>
            <a:off x="7680960" y="3749040"/>
            <a:ext cx="3931920" cy="2514600"/>
          </a:xfrm>
          <a:prstGeom prst="roundRect">
            <a:avLst>
              <a:gd name="adj" fmla="val 4364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17"/>
          <p:cNvSpPr txBox="1"/>
          <p:nvPr/>
        </p:nvSpPr>
        <p:spPr>
          <a:xfrm>
            <a:off x="79095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On the live server</a:t>
            </a:r>
            <a:endParaRPr lang="en-US" sz="1350" dirty="0"/>
          </a:p>
        </p:txBody>
      </p:sp>
      <p:sp>
        <p:nvSpPr>
          <p:cNvPr id="38" name="text 318"/>
          <p:cNvSpPr txBox="1"/>
          <p:nvPr/>
        </p:nvSpPr>
        <p:spPr>
          <a:xfrm>
            <a:off x="790956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5,299</a:t>
            </a:r>
            <a:endParaRPr lang="en-US" sz="2400" dirty="0"/>
          </a:p>
        </p:txBody>
      </p:sp>
      <p:sp>
        <p:nvSpPr>
          <p:cNvPr id="39" name="text 319"/>
          <p:cNvSpPr txBox="1"/>
          <p:nvPr/>
        </p:nvSpPr>
        <p:spPr>
          <a:xfrm>
            <a:off x="790956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ARGO profiles</a:t>
            </a:r>
            <a:endParaRPr lang="en-US" sz="1050" dirty="0"/>
          </a:p>
        </p:txBody>
      </p:sp>
      <p:sp>
        <p:nvSpPr>
          <p:cNvPr id="40" name="text 320"/>
          <p:cNvSpPr txBox="1"/>
          <p:nvPr/>
        </p:nvSpPr>
        <p:spPr>
          <a:xfrm>
            <a:off x="973836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3.6 M</a:t>
            </a:r>
            <a:endParaRPr lang="en-US" sz="2400" dirty="0"/>
          </a:p>
        </p:txBody>
      </p:sp>
      <p:sp>
        <p:nvSpPr>
          <p:cNvPr id="41" name="text 321"/>
          <p:cNvSpPr txBox="1"/>
          <p:nvPr/>
        </p:nvSpPr>
        <p:spPr>
          <a:xfrm>
            <a:off x="973836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measurements</a:t>
            </a:r>
            <a:endParaRPr lang="en-US" sz="1050" dirty="0"/>
          </a:p>
        </p:txBody>
      </p:sp>
      <p:sp>
        <p:nvSpPr>
          <p:cNvPr id="42" name="text 322"/>
          <p:cNvSpPr txBox="1"/>
          <p:nvPr/>
        </p:nvSpPr>
        <p:spPr>
          <a:xfrm>
            <a:off x="7909560" y="5212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19,530</a:t>
            </a:r>
            <a:endParaRPr lang="en-US" sz="2400" dirty="0"/>
          </a:p>
        </p:txBody>
      </p:sp>
      <p:sp>
        <p:nvSpPr>
          <p:cNvPr id="43" name="text 323"/>
          <p:cNvSpPr txBox="1"/>
          <p:nvPr/>
        </p:nvSpPr>
        <p:spPr>
          <a:xfrm>
            <a:off x="790956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SST grid cells (14 days)</a:t>
            </a:r>
            <a:endParaRPr lang="en-US" sz="1050" dirty="0"/>
          </a:p>
        </p:txBody>
      </p:sp>
      <p:sp>
        <p:nvSpPr>
          <p:cNvPr id="44" name="text 324"/>
          <p:cNvSpPr txBox="1"/>
          <p:nvPr/>
        </p:nvSpPr>
        <p:spPr>
          <a:xfrm>
            <a:off x="9738360" y="5212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27</a:t>
            </a:r>
            <a:endParaRPr lang="en-US" sz="2400" dirty="0"/>
          </a:p>
        </p:txBody>
      </p:sp>
      <p:sp>
        <p:nvSpPr>
          <p:cNvPr id="45" name="text 325"/>
          <p:cNvSpPr txBox="1"/>
          <p:nvPr/>
        </p:nvSpPr>
        <p:spPr>
          <a:xfrm>
            <a:off x="973836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fishing zones (9 ports)</a:t>
            </a:r>
            <a:endParaRPr lang="en-US" sz="1050" dirty="0"/>
          </a:p>
        </p:txBody>
      </p:sp>
      <p:sp>
        <p:nvSpPr>
          <p:cNvPr id="46" name="text 326"/>
          <p:cNvSpPr txBox="1"/>
          <p:nvPr/>
        </p:nvSpPr>
        <p:spPr>
          <a:xfrm>
            <a:off x="7909560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ARGO window: Jan 2023 – Nov 2023 · Indian Ocean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27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HOW IT IS BUILT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Deployment — the whole stack on a free 1 GB cloud VM</a:t>
            </a:r>
            <a:endParaRPr lang="en-US" sz="3000" dirty="0"/>
          </a:p>
        </p:txBody>
      </p:sp>
      <p:sp>
        <p:nvSpPr>
          <p:cNvPr id="4" name="icon bg 328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5" name="icon 3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314450"/>
            <a:ext cx="251460" cy="251460"/>
          </a:xfrm>
          <a:prstGeom prst="rect">
            <a:avLst/>
          </a:prstGeom>
        </p:spPr>
      </p:pic>
      <p:sp>
        <p:nvSpPr>
          <p:cNvPr id="6" name="text 330"/>
          <p:cNvSpPr txBox="1"/>
          <p:nvPr/>
        </p:nvSpPr>
        <p:spPr>
          <a:xfrm>
            <a:off x="1234440" y="1170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Oracle Cloud Always Free</a:t>
            </a:r>
            <a:endParaRPr lang="en-US" sz="1400" dirty="0"/>
          </a:p>
        </p:txBody>
      </p:sp>
      <p:sp>
        <p:nvSpPr>
          <p:cNvPr id="7" name="text 331"/>
          <p:cNvSpPr txBox="1"/>
          <p:nvPr/>
        </p:nvSpPr>
        <p:spPr>
          <a:xfrm>
            <a:off x="1234440" y="144475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VM.Standard.E2.1.Micro · 1 OCPU · 1 GB RAM · 45 GB disk · ap-mumbai-1 · Ubuntu 20.04 · public IP 80.225.245.19</a:t>
            </a:r>
            <a:endParaRPr lang="en-US" sz="1150" dirty="0"/>
          </a:p>
        </p:txBody>
      </p:sp>
      <p:sp>
        <p:nvSpPr>
          <p:cNvPr id="8" name="icon bg 332"/>
          <p:cNvSpPr/>
          <p:nvPr/>
        </p:nvSpPr>
        <p:spPr>
          <a:xfrm>
            <a:off x="548640" y="2176272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9" name="icon 3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302002"/>
            <a:ext cx="251460" cy="251460"/>
          </a:xfrm>
          <a:prstGeom prst="rect">
            <a:avLst/>
          </a:prstGeom>
        </p:spPr>
      </p:pic>
      <p:sp>
        <p:nvSpPr>
          <p:cNvPr id="10" name="text 334"/>
          <p:cNvSpPr txBox="1"/>
          <p:nvPr/>
        </p:nvSpPr>
        <p:spPr>
          <a:xfrm>
            <a:off x="1234440" y="21579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docker-compose.micro.yml</a:t>
            </a:r>
            <a:endParaRPr lang="en-US" sz="1400" dirty="0"/>
          </a:p>
        </p:txBody>
      </p:sp>
      <p:sp>
        <p:nvSpPr>
          <p:cNvPr id="11" name="text 335"/>
          <p:cNvSpPr txBox="1"/>
          <p:nvPr/>
        </p:nvSpPr>
        <p:spPr>
          <a:xfrm>
            <a:off x="1234440" y="243230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db (postgis/postgis:16-3.4, shared_buffers=96MB) · api (built on the VM from Dockerfile) · web (caddy:2-alpine serving a frontend/dist built on the laptop)</a:t>
            </a:r>
            <a:endParaRPr lang="en-US" sz="1150" dirty="0"/>
          </a:p>
        </p:txBody>
      </p:sp>
      <p:sp>
        <p:nvSpPr>
          <p:cNvPr id="12" name="icon bg 336"/>
          <p:cNvSpPr/>
          <p:nvPr/>
        </p:nvSpPr>
        <p:spPr>
          <a:xfrm>
            <a:off x="548640" y="3163824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3" name="icon 3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289554"/>
            <a:ext cx="251460" cy="251460"/>
          </a:xfrm>
          <a:prstGeom prst="rect">
            <a:avLst/>
          </a:prstGeom>
        </p:spPr>
      </p:pic>
      <p:sp>
        <p:nvSpPr>
          <p:cNvPr id="14" name="text 338"/>
          <p:cNvSpPr txBox="1"/>
          <p:nvPr/>
        </p:nvSpPr>
        <p:spPr>
          <a:xfrm>
            <a:off x="1234440" y="31455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deploy/server_setup.sh</a:t>
            </a:r>
            <a:endParaRPr lang="en-US" sz="1400" dirty="0"/>
          </a:p>
        </p:txBody>
      </p:sp>
      <p:sp>
        <p:nvSpPr>
          <p:cNvPr id="15" name="text 339"/>
          <p:cNvSpPr txBox="1"/>
          <p:nvPr/>
        </p:nvSpPr>
        <p:spPr>
          <a:xfrm>
            <a:off x="1234440" y="341985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installs Docker + Compose, adds a 4 GB swap file, opens 80/443 in Ubuntu's iptables (Oracle images block all but SSH)</a:t>
            </a:r>
            <a:endParaRPr lang="en-US" sz="1150" dirty="0"/>
          </a:p>
        </p:txBody>
      </p:sp>
      <p:sp>
        <p:nvSpPr>
          <p:cNvPr id="16" name="icon bg 340"/>
          <p:cNvSpPr/>
          <p:nvPr/>
        </p:nvSpPr>
        <p:spPr>
          <a:xfrm>
            <a:off x="548640" y="4151376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7" name="icon 34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277106"/>
            <a:ext cx="251460" cy="251460"/>
          </a:xfrm>
          <a:prstGeom prst="rect">
            <a:avLst/>
          </a:prstGeom>
        </p:spPr>
      </p:pic>
      <p:sp>
        <p:nvSpPr>
          <p:cNvPr id="18" name="text 342"/>
          <p:cNvSpPr txBox="1"/>
          <p:nvPr/>
        </p:nvSpPr>
        <p:spPr>
          <a:xfrm>
            <a:off x="1234440" y="4133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deploy/install_cron.sh</a:t>
            </a:r>
            <a:endParaRPr lang="en-US" sz="1400" dirty="0"/>
          </a:p>
        </p:txBody>
      </p:sp>
      <p:sp>
        <p:nvSpPr>
          <p:cNvPr id="19" name="text 343"/>
          <p:cNvSpPr txBox="1"/>
          <p:nvPr/>
        </p:nvSpPr>
        <p:spPr>
          <a:xfrm>
            <a:off x="1234440" y="440740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crontab: refresh_fisheries.sh every night → fisheries_fetch --days 14 inside the api container; log at ~/fisheries_refresh.log</a:t>
            </a:r>
            <a:endParaRPr lang="en-US" sz="1150" dirty="0"/>
          </a:p>
        </p:txBody>
      </p:sp>
      <p:sp>
        <p:nvSpPr>
          <p:cNvPr id="20" name="icon bg 344"/>
          <p:cNvSpPr/>
          <p:nvPr/>
        </p:nvSpPr>
        <p:spPr>
          <a:xfrm>
            <a:off x="548640" y="5138928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icon 34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264658"/>
            <a:ext cx="251460" cy="251460"/>
          </a:xfrm>
          <a:prstGeom prst="rect">
            <a:avLst/>
          </a:prstGeom>
        </p:spPr>
      </p:pic>
      <p:sp>
        <p:nvSpPr>
          <p:cNvPr id="22" name="text 346"/>
          <p:cNvSpPr txBox="1"/>
          <p:nvPr/>
        </p:nvSpPr>
        <p:spPr>
          <a:xfrm>
            <a:off x="1234440" y="5120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Secrets</a:t>
            </a:r>
            <a:endParaRPr lang="en-US" sz="1400" dirty="0"/>
          </a:p>
        </p:txBody>
      </p:sp>
      <p:sp>
        <p:nvSpPr>
          <p:cNvPr id="23" name="text 347"/>
          <p:cNvSpPr txBox="1"/>
          <p:nvPr/>
        </p:nvSpPr>
        <p:spPr>
          <a:xfrm>
            <a:off x="1234440" y="53949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.env on the VM: LLM provider/key, random POSTGRES_PASSWORD; DATABASE_URL points at the read-only role; restart: unless-stopped on every container</a:t>
            </a:r>
            <a:endParaRPr lang="en-US" sz="1150" dirty="0"/>
          </a:p>
        </p:txBody>
      </p:sp>
      <p:sp>
        <p:nvSpPr>
          <p:cNvPr id="24" name="code bg 348"/>
          <p:cNvSpPr/>
          <p:nvPr/>
        </p:nvSpPr>
        <p:spPr>
          <a:xfrm>
            <a:off x="7406640" y="118872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05080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349"/>
          <p:cNvSpPr txBox="1"/>
          <p:nvPr/>
        </p:nvSpPr>
        <p:spPr>
          <a:xfrm>
            <a:off x="758952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server (captured during deployment)</a:t>
            </a:r>
            <a:endParaRPr lang="en-US" sz="1100" dirty="0"/>
          </a:p>
        </p:txBody>
      </p:sp>
      <p:sp>
        <p:nvSpPr>
          <p:cNvPr id="26" name="code 350"/>
          <p:cNvSpPr txBox="1"/>
          <p:nvPr/>
        </p:nvSpPr>
        <p:spPr>
          <a:xfrm>
            <a:off x="7589520" y="160020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-f docker-compose.micro.yml 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IMAGE                   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floatchat-api   floatchat-api            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floatchat-db    postgis/postgis:16-3.4   Up (healthy)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floatchat-web   caddy:2-alpine           Up  :80-&gt;80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total   used   free   available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Mem:     952    496     72         212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Swap:   4095    410   3685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http://80.225.245.19/api/health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{"status":"ok","db":"ok"}</a:t>
            </a:r>
            <a:endParaRPr lang="en-US" sz="950" dirty="0"/>
          </a:p>
        </p:txBody>
      </p:sp>
      <p:sp>
        <p:nvSpPr>
          <p:cNvPr id="27" name="card 351"/>
          <p:cNvSpPr/>
          <p:nvPr/>
        </p:nvSpPr>
        <p:spPr>
          <a:xfrm>
            <a:off x="7406640" y="4754880"/>
            <a:ext cx="4206240" cy="1508760"/>
          </a:xfrm>
          <a:prstGeom prst="roundRect">
            <a:avLst>
              <a:gd name="adj" fmla="val 7273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352"/>
          <p:cNvSpPr txBox="1"/>
          <p:nvPr/>
        </p:nvSpPr>
        <p:spPr>
          <a:xfrm>
            <a:off x="758952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Why not build on the server?</a:t>
            </a:r>
            <a:endParaRPr lang="en-US" sz="1250" dirty="0"/>
          </a:p>
        </p:txBody>
      </p:sp>
      <p:sp>
        <p:nvSpPr>
          <p:cNvPr id="29" name="text 353"/>
          <p:cNvSpPr txBox="1"/>
          <p:nvPr/>
        </p:nvSpPr>
        <p:spPr>
          <a:xfrm>
            <a:off x="7589520" y="51389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Vite/Node build of the 5 MB Plotly bundle exceeds 1 GB RAM. The frontend is built on the laptop and only the small Python image is built on the VM — the one change that made the free shape workable.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 354"/>
          <p:cNvSpPr txBox="1"/>
          <p:nvPr/>
        </p:nvSpPr>
        <p:spPr>
          <a:xfrm>
            <a:off x="786384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chemeClr val="accent5"/>
                </a:solidFill>
              </a:rPr>
              <a:t>03</a:t>
            </a:r>
            <a:endParaRPr lang="en-US" sz="17000" dirty="0"/>
          </a:p>
        </p:txBody>
      </p:sp>
      <p:sp>
        <p:nvSpPr>
          <p:cNvPr id="3" name="section kicker 355"/>
          <p:cNvSpPr txBox="1"/>
          <p:nvPr/>
        </p:nvSpPr>
        <p:spPr>
          <a:xfrm>
            <a:off x="7315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SECTION 03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514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The application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Screenshots taken from the live deployment at http://80.225.245.19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56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DEMONSTRATION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Landing page and the data-limit notice</a:t>
            </a:r>
            <a:endParaRPr lang="en-US" sz="3000" dirty="0"/>
          </a:p>
        </p:txBody>
      </p:sp>
      <p:sp>
        <p:nvSpPr>
          <p:cNvPr id="4" name="frame 357"/>
          <p:cNvSpPr/>
          <p:nvPr/>
        </p:nvSpPr>
        <p:spPr>
          <a:xfrm>
            <a:off x="49377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358" descr="C:\Users\Aditya\AppData\Local\Temp\claude\C--Users-Aditya-AppData-Roaming-Claude-scratch-workspaces-cd6a4156-9f3b-47f6-9837-f1cc0711a291-bd2a9cd6-7d84-4284-b93a-7971c0f98a00-scratch-2026-10-15-da1e4e\560efee6-9554-44b4-8f3b-96804c516904\scratchpad\deck\shots\01_lan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3429000"/>
          </a:xfrm>
          <a:prstGeom prst="rect">
            <a:avLst/>
          </a:prstGeom>
        </p:spPr>
      </p:pic>
      <p:sp>
        <p:nvSpPr>
          <p:cNvPr id="6" name="text 359"/>
          <p:cNvSpPr txBox="1"/>
          <p:nvPr/>
        </p:nvSpPr>
        <p:spPr>
          <a:xfrm>
            <a:off x="54864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Landing: hero question box with example chips; links to Explore, Fisheries, How it works, The data.</a:t>
            </a:r>
            <a:endParaRPr lang="en-US" sz="1100" dirty="0"/>
          </a:p>
        </p:txBody>
      </p:sp>
      <p:sp>
        <p:nvSpPr>
          <p:cNvPr id="7" name="frame 360"/>
          <p:cNvSpPr/>
          <p:nvPr/>
        </p:nvSpPr>
        <p:spPr>
          <a:xfrm>
            <a:off x="611733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creenshot 361" descr="C:\Users\Aditya\AppData\Local\Temp\claude\C--Users-Aditya-AppData-Roaming-Claude-scratch-workspaces-cd6a4156-9f3b-47f6-9837-f1cc0711a291-bd2a9cd6-7d84-4284-b93a-7971c0f98a00-scratch-2026-10-15-da1e4e\560efee6-9554-44b4-8f3b-96804c516904\scratchpad\deck\shots\02_pop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86400" cy="3429000"/>
          </a:xfrm>
          <a:prstGeom prst="rect">
            <a:avLst/>
          </a:prstGeom>
        </p:spPr>
      </p:pic>
      <p:sp>
        <p:nvSpPr>
          <p:cNvPr id="9" name="text 362"/>
          <p:cNvSpPr txBox="1"/>
          <p:nvPr/>
        </p:nvSpPr>
        <p:spPr>
          <a:xfrm>
            <a:off x="617220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 launch, a one-time notice reads /api/data/overview and states exactly which ARGO window this server holds.</a:t>
            </a:r>
            <a:endParaRPr lang="en-US" sz="1100" dirty="0"/>
          </a:p>
        </p:txBody>
      </p:sp>
      <p:sp>
        <p:nvSpPr>
          <p:cNvPr id="10" name="demo notes 363"/>
          <p:cNvSpPr txBox="1"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landing page lets a visitor type a question before entering the app; the crossfade hands the question straight to the chat.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Because the free VM holds a subset of the archive, the notice makes 'no matching records' outside the window understandable rather than looking like a bug.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64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DEMONSTRATION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Explore — fishing zones near Kochi</a:t>
            </a:r>
            <a:endParaRPr lang="en-US" sz="3000" dirty="0"/>
          </a:p>
        </p:txBody>
      </p:sp>
      <p:sp>
        <p:nvSpPr>
          <p:cNvPr id="4" name="frame 365"/>
          <p:cNvSpPr/>
          <p:nvPr/>
        </p:nvSpPr>
        <p:spPr>
          <a:xfrm>
            <a:off x="493776" y="1179576"/>
            <a:ext cx="7790688" cy="4910328"/>
          </a:xfrm>
          <a:prstGeom prst="roundRect">
            <a:avLst>
              <a:gd name="adj" fmla="val 186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366" descr="C:\Users\Aditya\AppData\Local\Temp\claude\C--Users-Aditya-AppData-Roaming-Claude-scratch-workspaces-cd6a4156-9f3b-47f6-9837-f1cc0711a291-bd2a9cd6-7d84-4284-b93a-7971c0f98a00-scratch-2026-10-15-da1e4e\560efee6-9554-44b4-8f3b-96804c516904\scratchpad\deck\shots\04_fishing_zon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text 367"/>
          <p:cNvSpPr txBox="1"/>
          <p:nvPr/>
        </p:nvSpPr>
        <p:spPr>
          <a:xfrm>
            <a:off x="548640" y="6144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"Current fishing zones near Kochi" → 20 active zones from today's NOAA data, drawn in amber on the satellite map.</a:t>
            </a:r>
            <a:endParaRPr lang="en-US" sz="1100" dirty="0"/>
          </a:p>
        </p:txBody>
      </p:sp>
      <p:sp>
        <p:nvSpPr>
          <p:cNvPr id="7" name="text 368"/>
          <p:cNvSpPr txBox="1"/>
          <p:nvPr/>
        </p:nvSpPr>
        <p:spPr>
          <a:xfrm>
            <a:off x="850392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Chat</a:t>
            </a:r>
            <a:endParaRPr lang="en-US" sz="1350" dirty="0"/>
          </a:p>
        </p:txBody>
      </p:sp>
      <p:sp>
        <p:nvSpPr>
          <p:cNvPr id="8" name="text 369"/>
          <p:cNvSpPr txBox="1"/>
          <p:nvPr/>
        </p:nvSpPr>
        <p:spPr>
          <a:xfrm>
            <a:off x="850392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question, the grounded one-sentence answer (nearest zone, likely species, SST range) and quick insights.</a:t>
            </a:r>
            <a:endParaRPr lang="en-US" sz="1150" dirty="0"/>
          </a:p>
        </p:txBody>
      </p:sp>
      <p:sp>
        <p:nvSpPr>
          <p:cNvPr id="9" name="text 370"/>
          <p:cNvSpPr txBox="1"/>
          <p:nvPr/>
        </p:nvSpPr>
        <p:spPr>
          <a:xfrm>
            <a:off x="850392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Map</a:t>
            </a:r>
            <a:endParaRPr lang="en-US" sz="1350" dirty="0"/>
          </a:p>
        </p:txBody>
      </p:sp>
      <p:sp>
        <p:nvSpPr>
          <p:cNvPr id="10" name="text 371"/>
          <p:cNvSpPr txBox="1"/>
          <p:nvPr/>
        </p:nvSpPr>
        <p:spPr>
          <a:xfrm>
            <a:off x="850392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PostGIS orders zones by distance from Kochi (76.27°E, 9.93°N) with the &lt;-&gt; operator; popups show species and validity.</a:t>
            </a:r>
            <a:endParaRPr lang="en-US" sz="1150" dirty="0"/>
          </a:p>
        </p:txBody>
      </p:sp>
      <p:sp>
        <p:nvSpPr>
          <p:cNvPr id="11" name="text 372"/>
          <p:cNvSpPr txBox="1"/>
          <p:nvPr/>
        </p:nvSpPr>
        <p:spPr>
          <a:xfrm>
            <a:off x="850392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SQL panel</a:t>
            </a:r>
            <a:endParaRPr lang="en-US" sz="1350" dirty="0"/>
          </a:p>
        </p:txBody>
      </p:sp>
      <p:sp>
        <p:nvSpPr>
          <p:cNvPr id="12" name="text 373"/>
          <p:cNvSpPr txBox="1"/>
          <p:nvPr/>
        </p:nvSpPr>
        <p:spPr>
          <a:xfrm>
            <a:off x="8503920" y="3886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exact query the rule engine wrote, the engine badge, and a button to save the question.</a:t>
            </a:r>
            <a:endParaRPr lang="en-US" sz="1150" dirty="0"/>
          </a:p>
        </p:txBody>
      </p:sp>
      <p:sp>
        <p:nvSpPr>
          <p:cNvPr id="13" name="text 374"/>
          <p:cNvSpPr txBox="1"/>
          <p:nvPr/>
        </p:nvSpPr>
        <p:spPr>
          <a:xfrm>
            <a:off x="850392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Follow-ups</a:t>
            </a:r>
            <a:endParaRPr lang="en-US" sz="1350" dirty="0"/>
          </a:p>
        </p:txBody>
      </p:sp>
      <p:sp>
        <p:nvSpPr>
          <p:cNvPr id="14" name="text 375"/>
          <p:cNvSpPr txBox="1"/>
          <p:nvPr/>
        </p:nvSpPr>
        <p:spPr>
          <a:xfrm>
            <a:off x="850392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Three suggested next questions generated from the result shape.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76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DEMONSTRATION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Explore — chart and table views of the same answer</a:t>
            </a:r>
            <a:endParaRPr lang="en-US" sz="3000" dirty="0"/>
          </a:p>
        </p:txBody>
      </p:sp>
      <p:sp>
        <p:nvSpPr>
          <p:cNvPr id="4" name="frame 377"/>
          <p:cNvSpPr/>
          <p:nvPr/>
        </p:nvSpPr>
        <p:spPr>
          <a:xfrm>
            <a:off x="49377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378" descr="C:\Users\Aditya\AppData\Local\Temp\claude\C--Users-Aditya-AppData-Roaming-Claude-scratch-workspaces-cd6a4156-9f3b-47f6-9837-f1cc0711a291-bd2a9cd6-7d84-4284-b93a-7971c0f98a00-scratch-2026-10-15-da1e4e\560efee6-9554-44b4-8f3b-96804c516904\scratchpad\deck\shots\06_salinity_ch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3429000"/>
          </a:xfrm>
          <a:prstGeom prst="rect">
            <a:avLst/>
          </a:prstGeom>
        </p:spPr>
      </p:pic>
      <p:sp>
        <p:nvSpPr>
          <p:cNvPr id="6" name="text 379"/>
          <p:cNvSpPr txBox="1"/>
          <p:nvPr/>
        </p:nvSpPr>
        <p:spPr>
          <a:xfrm>
            <a:off x="54864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Chart tab: Plotly depth-profile chart built automatically from the 500 returned rows (22 floats, 0–30 m).</a:t>
            </a:r>
            <a:endParaRPr lang="en-US" sz="1100" dirty="0"/>
          </a:p>
        </p:txBody>
      </p:sp>
      <p:sp>
        <p:nvSpPr>
          <p:cNvPr id="7" name="frame 380"/>
          <p:cNvSpPr/>
          <p:nvPr/>
        </p:nvSpPr>
        <p:spPr>
          <a:xfrm>
            <a:off x="611733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creenshot 381" descr="C:\Users\Aditya\AppData\Local\Temp\claude\C--Users-Aditya-AppData-Roaming-Claude-scratch-workspaces-cd6a4156-9f3b-47f6-9837-f1cc0711a291-bd2a9cd6-7d84-4284-b93a-7971c0f98a00-scratch-2026-10-15-da1e4e\560efee6-9554-44b4-8f3b-96804c516904\scratchpad\deck\shots\07_salinity_tab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86400" cy="3429000"/>
          </a:xfrm>
          <a:prstGeom prst="rect">
            <a:avLst/>
          </a:prstGeom>
        </p:spPr>
      </p:pic>
      <p:sp>
        <p:nvSpPr>
          <p:cNvPr id="9" name="text 382"/>
          <p:cNvSpPr txBox="1"/>
          <p:nvPr/>
        </p:nvSpPr>
        <p:spPr>
          <a:xfrm>
            <a:off x="617220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Table tab: the raw rows (float, cycle, depth, salinity…) — capped at 500 by the validator.</a:t>
            </a:r>
            <a:endParaRPr lang="en-US" sz="1100" dirty="0"/>
          </a:p>
        </p:txBody>
      </p:sp>
      <p:sp>
        <p:nvSpPr>
          <p:cNvPr id="10" name="demo notes 383"/>
          <p:cNvSpPr txBox="1"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viz.infer_kind() looks at the columns: positions → map, depth column → profile chart, month/year column → time series, single aggregate row → KPI sentence.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tab badge shows row_count; the same response object feeds all three views, so what you see in the table is exactly what was charted and summarised.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84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DEMONSTRATION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Fisheries tab and a question in Hindi</a:t>
            </a:r>
            <a:endParaRPr lang="en-US" sz="3000" dirty="0"/>
          </a:p>
        </p:txBody>
      </p:sp>
      <p:sp>
        <p:nvSpPr>
          <p:cNvPr id="4" name="frame 385"/>
          <p:cNvSpPr/>
          <p:nvPr/>
        </p:nvSpPr>
        <p:spPr>
          <a:xfrm>
            <a:off x="49377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386" descr="C:\Users\Aditya\AppData\Local\Temp\claude\C--Users-Aditya-AppData-Roaming-Claude-scratch-workspaces-cd6a4156-9f3b-47f6-9837-f1cc0711a291-bd2a9cd6-7d84-4284-b93a-7971c0f98a00-scratch-2026-10-15-da1e4e\560efee6-9554-44b4-8f3b-96804c516904\scratchpad\deck\shots\10_fisher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3429000"/>
          </a:xfrm>
          <a:prstGeom prst="rect">
            <a:avLst/>
          </a:prstGeom>
        </p:spPr>
      </p:pic>
      <p:sp>
        <p:nvSpPr>
          <p:cNvPr id="6" name="text 387"/>
          <p:cNvSpPr txBox="1"/>
          <p:nvPr/>
        </p:nvSpPr>
        <p:spPr>
          <a:xfrm>
            <a:off x="54864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Fisheries: what is loaded (PFZ, SST, chlorophyll with sources and dates), port shortcuts, seasonal guide.</a:t>
            </a:r>
            <a:endParaRPr lang="en-US" sz="1100" dirty="0"/>
          </a:p>
        </p:txBody>
      </p:sp>
      <p:sp>
        <p:nvSpPr>
          <p:cNvPr id="7" name="frame 388"/>
          <p:cNvSpPr/>
          <p:nvPr/>
        </p:nvSpPr>
        <p:spPr>
          <a:xfrm>
            <a:off x="611733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creenshot 389" descr="C:\Users\Aditya\AppData\Local\Temp\claude\C--Users-Aditya-AppData-Roaming-Claude-scratch-workspaces-cd6a4156-9f3b-47f6-9837-f1cc0711a291-bd2a9cd6-7d84-4284-b93a-7971c0f98a00-scratch-2026-10-15-da1e4e\560efee6-9554-44b4-8f3b-96804c516904\scratchpad\deck\shots\09_hind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86400" cy="3429000"/>
          </a:xfrm>
          <a:prstGeom prst="rect">
            <a:avLst/>
          </a:prstGeom>
        </p:spPr>
      </p:pic>
      <p:sp>
        <p:nvSpPr>
          <p:cNvPr id="9" name="text 390"/>
          <p:cNvSpPr txBox="1"/>
          <p:nvPr/>
        </p:nvSpPr>
        <p:spPr>
          <a:xfrm>
            <a:off x="617220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"अरब सागर में 2023 में औसत लवणता" — detected as Hindi, translated with the place-name gazetteer, answered from the data.</a:t>
            </a:r>
            <a:endParaRPr lang="en-US" sz="1100" dirty="0"/>
          </a:p>
        </p:txBody>
      </p:sp>
      <p:sp>
        <p:nvSpPr>
          <p:cNvPr id="10" name="demo notes 391"/>
          <p:cNvSpPr txBox="1"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fisheries overview is served by GET /fisheries/overview and labels derived zones honestly: computed with the INCOIS PFZ recipe, not an official INCOIS advisory.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Language handling lives in app/lang.py: langdetect chooses the language, region/port names are protected, and the rest is translated before the SQL step.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392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DEMONSTRATION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Provenance and the built-in explainer</a:t>
            </a:r>
            <a:endParaRPr lang="en-US" sz="3000" dirty="0"/>
          </a:p>
        </p:txBody>
      </p:sp>
      <p:sp>
        <p:nvSpPr>
          <p:cNvPr id="4" name="frame 393"/>
          <p:cNvSpPr/>
          <p:nvPr/>
        </p:nvSpPr>
        <p:spPr>
          <a:xfrm>
            <a:off x="49377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reenshot 394" descr="C:\Users\Aditya\AppData\Local\Temp\claude\C--Users-Aditya-AppData-Roaming-Claude-scratch-workspaces-cd6a4156-9f3b-47f6-9837-f1cc0711a291-bd2a9cd6-7d84-4284-b93a-7971c0f98a00-scratch-2026-10-15-da1e4e\560efee6-9554-44b4-8f3b-96804c516904\scratchpad\deck\shots\11_da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3429000"/>
          </a:xfrm>
          <a:prstGeom prst="rect">
            <a:avLst/>
          </a:prstGeom>
        </p:spPr>
      </p:pic>
      <p:sp>
        <p:nvSpPr>
          <p:cNvPr id="6" name="text 395"/>
          <p:cNvSpPr txBox="1"/>
          <p:nvPr/>
        </p:nvSpPr>
        <p:spPr>
          <a:xfrm>
            <a:off x="54864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The data: live counts and date range, a preview of every table, and where each dataset comes from.</a:t>
            </a:r>
            <a:endParaRPr lang="en-US" sz="1100" dirty="0"/>
          </a:p>
        </p:txBody>
      </p:sp>
      <p:sp>
        <p:nvSpPr>
          <p:cNvPr id="7" name="frame 396"/>
          <p:cNvSpPr/>
          <p:nvPr/>
        </p:nvSpPr>
        <p:spPr>
          <a:xfrm>
            <a:off x="6117336" y="1179576"/>
            <a:ext cx="5596128" cy="3538728"/>
          </a:xfrm>
          <a:prstGeom prst="roundRect">
            <a:avLst>
              <a:gd name="adj" fmla="val 2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creenshot 397" descr="C:\Users\Aditya\AppData\Local\Temp\claude\C--Users-Aditya-AppData-Roaming-Claude-scratch-workspaces-cd6a4156-9f3b-47f6-9837-f1cc0711a291-bd2a9cd6-7d84-4284-b93a-7971c0f98a00-scratch-2026-10-15-da1e4e\560efee6-9554-44b4-8f3b-96804c516904\scratchpad\deck\shots\12_howitwor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86400" cy="3429000"/>
          </a:xfrm>
          <a:prstGeom prst="rect">
            <a:avLst/>
          </a:prstGeom>
        </p:spPr>
      </p:pic>
      <p:sp>
        <p:nvSpPr>
          <p:cNvPr id="9" name="text 398"/>
          <p:cNvSpPr txBox="1"/>
          <p:nvPr/>
        </p:nvSpPr>
        <p:spPr>
          <a:xfrm>
            <a:off x="617220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How it works: a plain-language walk from question to grounded answer, for non-technical users.</a:t>
            </a:r>
            <a:endParaRPr lang="en-US" sz="1100" dirty="0"/>
          </a:p>
        </p:txBody>
      </p:sp>
      <p:sp>
        <p:nvSpPr>
          <p:cNvPr id="10" name="demo notes 399"/>
          <p:cNvSpPr txBox="1"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Both pages are driven by the API, not hard-coded: GET /data/overview runs live COUNT queries and table previews on every visit.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A light theme is available from the sidebar; the choice is remembered in localStorage.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400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REFLECTION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Challenges faced and current limitations</a:t>
            </a:r>
            <a:endParaRPr lang="en-US" sz="3000" dirty="0"/>
          </a:p>
        </p:txBody>
      </p:sp>
      <p:sp>
        <p:nvSpPr>
          <p:cNvPr id="4" name="text 401"/>
          <p:cNvSpPr txBox="1"/>
          <p:nvPr/>
        </p:nvSpPr>
        <p:spPr>
          <a:xfrm>
            <a:off x="512064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What happened</a:t>
            </a:r>
            <a:endParaRPr lang="en-US" sz="1050" dirty="0"/>
          </a:p>
        </p:txBody>
      </p:sp>
      <p:sp>
        <p:nvSpPr>
          <p:cNvPr id="5" name="text 402"/>
          <p:cNvSpPr txBox="1"/>
          <p:nvPr/>
        </p:nvSpPr>
        <p:spPr>
          <a:xfrm>
            <a:off x="8458200" y="11887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What was done / mitigation</a:t>
            </a:r>
            <a:endParaRPr lang="en-US" sz="1050" dirty="0"/>
          </a:p>
        </p:txBody>
      </p:sp>
      <p:sp>
        <p:nvSpPr>
          <p:cNvPr id="6" name="icon bg 40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7" name="icon 4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668780"/>
            <a:ext cx="228600" cy="228600"/>
          </a:xfrm>
          <a:prstGeom prst="rect">
            <a:avLst/>
          </a:prstGeom>
        </p:spPr>
      </p:pic>
      <p:sp>
        <p:nvSpPr>
          <p:cNvPr id="8" name="text 405"/>
          <p:cNvSpPr txBox="1"/>
          <p:nvPr/>
        </p:nvSpPr>
        <p:spPr>
          <a:xfrm>
            <a:off x="118872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1 GB of RAM for the whole stack</a:t>
            </a:r>
            <a:endParaRPr lang="en-US" sz="1350" dirty="0"/>
          </a:p>
        </p:txBody>
      </p:sp>
      <p:sp>
        <p:nvSpPr>
          <p:cNvPr id="9" name="text 406"/>
          <p:cNvSpPr txBox="1"/>
          <p:nvPr/>
        </p:nvSpPr>
        <p:spPr>
          <a:xfrm>
            <a:off x="5120640" y="1508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repo's guide assumed a 12 GB ARM VM. On the free 1 GB shape the frontend build crashed and Postgres had no headroom.</a:t>
            </a:r>
            <a:endParaRPr lang="en-US" sz="1050" dirty="0"/>
          </a:p>
        </p:txBody>
      </p:sp>
      <p:sp>
        <p:nvSpPr>
          <p:cNvPr id="10" name="text 407"/>
          <p:cNvSpPr txBox="1"/>
          <p:nvPr/>
        </p:nvSpPr>
        <p:spPr>
          <a:xfrm>
            <a:off x="8458200" y="1508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Build the frontend off-box, stock Caddy image, 4 GB swap, Postgres tuned to 96 MB buffers, ARGO loaded in 3-month chunks on the server.</a:t>
            </a:r>
            <a:endParaRPr lang="en-US" sz="1050" dirty="0"/>
          </a:p>
        </p:txBody>
      </p:sp>
      <p:sp>
        <p:nvSpPr>
          <p:cNvPr id="11" name="icon bg 408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2" name="icon 40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610612"/>
            <a:ext cx="228600" cy="228600"/>
          </a:xfrm>
          <a:prstGeom prst="rect">
            <a:avLst/>
          </a:prstGeom>
        </p:spPr>
      </p:pic>
      <p:sp>
        <p:nvSpPr>
          <p:cNvPr id="13" name="text 410"/>
          <p:cNvSpPr txBox="1"/>
          <p:nvPr/>
        </p:nvSpPr>
        <p:spPr>
          <a:xfrm>
            <a:off x="1188720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NOAA renamed its SST dataset</a:t>
            </a:r>
            <a:endParaRPr lang="en-US" sz="1350" dirty="0"/>
          </a:p>
        </p:txBody>
      </p:sp>
      <p:sp>
        <p:nvSpPr>
          <p:cNvPr id="14" name="text 411"/>
          <p:cNvSpPr txBox="1"/>
          <p:nvPr/>
        </p:nvSpPr>
        <p:spPr>
          <a:xfrm>
            <a:off x="5120640" y="24505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fisheries_fetch.py requested ncdcOisst21NrtAgg_LonPM180, which now returns HTTP 404, so the fisheries load failed.</a:t>
            </a:r>
            <a:endParaRPr lang="en-US" sz="1050" dirty="0"/>
          </a:p>
        </p:txBody>
      </p:sp>
      <p:sp>
        <p:nvSpPr>
          <p:cNvPr id="15" name="text 412"/>
          <p:cNvSpPr txBox="1"/>
          <p:nvPr/>
        </p:nvSpPr>
        <p:spPr>
          <a:xfrm>
            <a:off x="8458200" y="245059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Switched to ncdcOisst21NrtAgg (same grid, 0–360° longitude; the Indian box is unaffected). Verified on the live server: 19,530 SST cells, 27 zones.</a:t>
            </a:r>
            <a:endParaRPr lang="en-US" sz="1050" dirty="0"/>
          </a:p>
        </p:txBody>
      </p:sp>
      <p:sp>
        <p:nvSpPr>
          <p:cNvPr id="16" name="icon bg 413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7" name="icon 4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552444"/>
            <a:ext cx="228600" cy="228600"/>
          </a:xfrm>
          <a:prstGeom prst="rect">
            <a:avLst/>
          </a:prstGeom>
        </p:spPr>
      </p:pic>
      <p:sp>
        <p:nvSpPr>
          <p:cNvPr id="18" name="text 415"/>
          <p:cNvSpPr txBox="1"/>
          <p:nvPr/>
        </p:nvSpPr>
        <p:spPr>
          <a:xfrm>
            <a:off x="1188720" y="33924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Only part of the archive is online</a:t>
            </a:r>
            <a:endParaRPr lang="en-US" sz="1350" dirty="0"/>
          </a:p>
        </p:txBody>
      </p:sp>
      <p:sp>
        <p:nvSpPr>
          <p:cNvPr id="19" name="text 416"/>
          <p:cNvSpPr txBox="1"/>
          <p:nvPr/>
        </p:nvSpPr>
        <p:spPr>
          <a:xfrm>
            <a:off x="5120640" y="339242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Full 2019–2023 (≈40 M rows) will not fit comfortably in 1 GB; the live server holds the 2023 Indian-Ocean window.</a:t>
            </a:r>
            <a:endParaRPr lang="en-US" sz="1050" dirty="0"/>
          </a:p>
        </p:txBody>
      </p:sp>
      <p:sp>
        <p:nvSpPr>
          <p:cNvPr id="20" name="text 417"/>
          <p:cNvSpPr txBox="1"/>
          <p:nvPr/>
        </p:nvSpPr>
        <p:spPr>
          <a:xfrm>
            <a:off x="8458200" y="3392424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 data-limit notice shows the exact loaded range; questions outside it return 'no matching records' rather than guesses.</a:t>
            </a:r>
            <a:endParaRPr lang="en-US" sz="1050" dirty="0"/>
          </a:p>
        </p:txBody>
      </p:sp>
      <p:sp>
        <p:nvSpPr>
          <p:cNvPr id="21" name="icon bg 418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2" name="icon 4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494276"/>
            <a:ext cx="228600" cy="228600"/>
          </a:xfrm>
          <a:prstGeom prst="rect">
            <a:avLst/>
          </a:prstGeom>
        </p:spPr>
      </p:pic>
      <p:sp>
        <p:nvSpPr>
          <p:cNvPr id="23" name="text 420"/>
          <p:cNvSpPr txBox="1"/>
          <p:nvPr/>
        </p:nvSpPr>
        <p:spPr>
          <a:xfrm>
            <a:off x="1188720" y="43342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No LLM on the live demo</a:t>
            </a:r>
            <a:endParaRPr lang="en-US" sz="1350" dirty="0"/>
          </a:p>
        </p:txBody>
      </p:sp>
      <p:sp>
        <p:nvSpPr>
          <p:cNvPr id="24" name="text 421"/>
          <p:cNvSpPr txBox="1"/>
          <p:nvPr/>
        </p:nvSpPr>
        <p:spPr>
          <a:xfrm>
            <a:off x="5120640" y="433425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LLM_PROVIDER=none, so every answer comes from the rule engine (engine: fallback). Unusual phrasings it cannot parse are rejected rather than guessed.</a:t>
            </a:r>
            <a:endParaRPr lang="en-US" sz="1050" dirty="0"/>
          </a:p>
        </p:txBody>
      </p:sp>
      <p:sp>
        <p:nvSpPr>
          <p:cNvPr id="25" name="text 422"/>
          <p:cNvSpPr txBox="1"/>
          <p:nvPr/>
        </p:nvSpPr>
        <p:spPr>
          <a:xfrm>
            <a:off x="8458200" y="433425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Adding a Groq key to .env enables the LLM path with the same validator; the rule engine stays as fallback.</a:t>
            </a:r>
            <a:endParaRPr lang="en-US" sz="1050" dirty="0"/>
          </a:p>
        </p:txBody>
      </p:sp>
      <p:sp>
        <p:nvSpPr>
          <p:cNvPr id="26" name="icon bg 423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7" name="icon 4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5436108"/>
            <a:ext cx="228600" cy="228600"/>
          </a:xfrm>
          <a:prstGeom prst="rect">
            <a:avLst/>
          </a:prstGeom>
        </p:spPr>
      </p:pic>
      <p:sp>
        <p:nvSpPr>
          <p:cNvPr id="28" name="text 425"/>
          <p:cNvSpPr txBox="1"/>
          <p:nvPr/>
        </p:nvSpPr>
        <p:spPr>
          <a:xfrm>
            <a:off x="1188720" y="5276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Plain HTTP, ephemeral IP, no accounts</a:t>
            </a:r>
            <a:endParaRPr lang="en-US" sz="1350" dirty="0"/>
          </a:p>
        </p:txBody>
      </p:sp>
      <p:sp>
        <p:nvSpPr>
          <p:cNvPr id="29" name="text 426"/>
          <p:cNvSpPr txBox="1"/>
          <p:nvPr/>
        </p:nvSpPr>
        <p:spPr>
          <a:xfrm>
            <a:off x="5120640" y="527608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demo IP changes if the VM is stopped; there is no login. The API is public but read-only, row-capped and time-limited.</a:t>
            </a:r>
            <a:endParaRPr lang="en-US" sz="1050" dirty="0"/>
          </a:p>
        </p:txBody>
      </p:sp>
      <p:sp>
        <p:nvSpPr>
          <p:cNvPr id="30" name="text 427"/>
          <p:cNvSpPr txBox="1"/>
          <p:nvPr/>
        </p:nvSpPr>
        <p:spPr>
          <a:xfrm>
            <a:off x="8458200" y="5276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reserved IP and a domain (Caddy auto-TLS via SITE_ADDRESS) are a config change away.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428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REFLECTION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Future enhancements (not yet implemented)</a:t>
            </a:r>
            <a:endParaRPr lang="en-US" sz="3000" dirty="0"/>
          </a:p>
        </p:txBody>
      </p:sp>
      <p:sp>
        <p:nvSpPr>
          <p:cNvPr id="4" name="card 429"/>
          <p:cNvSpPr/>
          <p:nvPr/>
        </p:nvSpPr>
        <p:spPr>
          <a:xfrm>
            <a:off x="548640" y="123444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icon bg 430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4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43050"/>
            <a:ext cx="251460" cy="251460"/>
          </a:xfrm>
          <a:prstGeom prst="rect">
            <a:avLst/>
          </a:prstGeom>
        </p:spPr>
      </p:pic>
      <p:sp>
        <p:nvSpPr>
          <p:cNvPr id="7" name="text 432"/>
          <p:cNvSpPr txBox="1"/>
          <p:nvPr/>
        </p:nvSpPr>
        <p:spPr>
          <a:xfrm>
            <a:off x="1371600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Turn on the LLM path</a:t>
            </a:r>
            <a:endParaRPr lang="en-US" sz="1500" dirty="0"/>
          </a:p>
        </p:txBody>
      </p:sp>
      <p:sp>
        <p:nvSpPr>
          <p:cNvPr id="8" name="text 433"/>
          <p:cNvSpPr txBox="1"/>
          <p:nvPr/>
        </p:nvSpPr>
        <p:spPr>
          <a:xfrm>
            <a:off x="731520" y="2057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Set LLM_PROVIDER=groq on the server. Better handling of free-form questions and superlatives; the validator and grounding gate already cover it.</a:t>
            </a:r>
            <a:endParaRPr lang="en-US" sz="1200" dirty="0"/>
          </a:p>
        </p:txBody>
      </p:sp>
      <p:sp>
        <p:nvSpPr>
          <p:cNvPr id="9" name="card 434"/>
          <p:cNvSpPr/>
          <p:nvPr/>
        </p:nvSpPr>
        <p:spPr>
          <a:xfrm>
            <a:off x="4315968" y="123444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icon bg 435"/>
          <p:cNvSpPr/>
          <p:nvPr/>
        </p:nvSpPr>
        <p:spPr>
          <a:xfrm>
            <a:off x="4498848" y="14173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1" name="icon 4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78" y="1543050"/>
            <a:ext cx="251460" cy="251460"/>
          </a:xfrm>
          <a:prstGeom prst="rect">
            <a:avLst/>
          </a:prstGeom>
        </p:spPr>
      </p:pic>
      <p:sp>
        <p:nvSpPr>
          <p:cNvPr id="12" name="text 437"/>
          <p:cNvSpPr txBox="1"/>
          <p:nvPr/>
        </p:nvSpPr>
        <p:spPr>
          <a:xfrm>
            <a:off x="5138928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Full 2019–2023 archive</a:t>
            </a:r>
            <a:endParaRPr lang="en-US" sz="1500" dirty="0"/>
          </a:p>
        </p:txBody>
      </p:sp>
      <p:sp>
        <p:nvSpPr>
          <p:cNvPr id="13" name="text 438"/>
          <p:cNvSpPr txBox="1"/>
          <p:nvPr/>
        </p:nvSpPr>
        <p:spPr>
          <a:xfrm>
            <a:off x="4498848" y="2057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Move to an A1 Flex VM (12 GB) when capacity allows and restore the full dump — the compose file and scripts already exist.</a:t>
            </a:r>
            <a:endParaRPr lang="en-US" sz="1200" dirty="0"/>
          </a:p>
        </p:txBody>
      </p:sp>
      <p:sp>
        <p:nvSpPr>
          <p:cNvPr id="14" name="card 439"/>
          <p:cNvSpPr/>
          <p:nvPr/>
        </p:nvSpPr>
        <p:spPr>
          <a:xfrm>
            <a:off x="8083296" y="123444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icon bg 440"/>
          <p:cNvSpPr/>
          <p:nvPr/>
        </p:nvSpPr>
        <p:spPr>
          <a:xfrm>
            <a:off x="8266176" y="141732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con 4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906" y="1543050"/>
            <a:ext cx="251460" cy="251460"/>
          </a:xfrm>
          <a:prstGeom prst="rect">
            <a:avLst/>
          </a:prstGeom>
        </p:spPr>
      </p:pic>
      <p:sp>
        <p:nvSpPr>
          <p:cNvPr id="17" name="text 442"/>
          <p:cNvSpPr txBox="1"/>
          <p:nvPr/>
        </p:nvSpPr>
        <p:spPr>
          <a:xfrm>
            <a:off x="8906256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HTTPS, domain, reserved IP</a:t>
            </a:r>
            <a:endParaRPr lang="en-US" sz="1500" dirty="0"/>
          </a:p>
        </p:txBody>
      </p:sp>
      <p:sp>
        <p:nvSpPr>
          <p:cNvPr id="18" name="text 443"/>
          <p:cNvSpPr txBox="1"/>
          <p:nvPr/>
        </p:nvSpPr>
        <p:spPr>
          <a:xfrm>
            <a:off x="8266176" y="2057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SITE_ADDRESS line gives Caddy a Let's Encrypt certificate; a reserved public IP survives VM restarts.</a:t>
            </a:r>
            <a:endParaRPr lang="en-US" sz="1200" dirty="0"/>
          </a:p>
        </p:txBody>
      </p:sp>
      <p:sp>
        <p:nvSpPr>
          <p:cNvPr id="19" name="card 444"/>
          <p:cNvSpPr/>
          <p:nvPr/>
        </p:nvSpPr>
        <p:spPr>
          <a:xfrm>
            <a:off x="548640" y="365760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icon bg 445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icon 4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966210"/>
            <a:ext cx="251460" cy="251460"/>
          </a:xfrm>
          <a:prstGeom prst="rect">
            <a:avLst/>
          </a:prstGeom>
        </p:spPr>
      </p:pic>
      <p:sp>
        <p:nvSpPr>
          <p:cNvPr id="22" name="text 447"/>
          <p:cNvSpPr txBox="1"/>
          <p:nvPr/>
        </p:nvSpPr>
        <p:spPr>
          <a:xfrm>
            <a:off x="1371600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Dense retrieval</a:t>
            </a:r>
            <a:endParaRPr lang="en-US" sz="1500" dirty="0"/>
          </a:p>
        </p:txBody>
      </p:sp>
      <p:sp>
        <p:nvSpPr>
          <p:cNvPr id="23" name="text 448"/>
          <p:cNvSpPr txBox="1"/>
          <p:nvPr/>
        </p:nvSpPr>
        <p:spPr>
          <a:xfrm>
            <a:off x="731520" y="4480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EMBED_BACKEND=sentence-transformers (MiniLM) is wired in rag/retriever.py but not installed — better schema recall for paraphrased questions.</a:t>
            </a:r>
            <a:endParaRPr lang="en-US" sz="1200" dirty="0"/>
          </a:p>
        </p:txBody>
      </p:sp>
      <p:sp>
        <p:nvSpPr>
          <p:cNvPr id="24" name="card 449"/>
          <p:cNvSpPr/>
          <p:nvPr/>
        </p:nvSpPr>
        <p:spPr>
          <a:xfrm>
            <a:off x="4315968" y="365760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icon bg 450"/>
          <p:cNvSpPr/>
          <p:nvPr/>
        </p:nvSpPr>
        <p:spPr>
          <a:xfrm>
            <a:off x="4498848" y="38404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6" name="icon 45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578" y="3966210"/>
            <a:ext cx="251460" cy="251460"/>
          </a:xfrm>
          <a:prstGeom prst="rect">
            <a:avLst/>
          </a:prstGeom>
        </p:spPr>
      </p:pic>
      <p:sp>
        <p:nvSpPr>
          <p:cNvPr id="27" name="text 452"/>
          <p:cNvSpPr txBox="1"/>
          <p:nvPr/>
        </p:nvSpPr>
        <p:spPr>
          <a:xfrm>
            <a:off x="5138928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Official INCOIS PFZ feed</a:t>
            </a:r>
            <a:endParaRPr lang="en-US" sz="1500" dirty="0"/>
          </a:p>
        </p:txBody>
      </p:sp>
      <p:sp>
        <p:nvSpPr>
          <p:cNvPr id="28" name="text 453"/>
          <p:cNvSpPr txBox="1"/>
          <p:nvPr/>
        </p:nvSpPr>
        <p:spPr>
          <a:xfrm>
            <a:off x="4498848" y="4480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ingest/fisheries.py already loads INCOIS / ISRO CSV exports; an automated feed would replace the derived zones with official advisories.</a:t>
            </a:r>
            <a:endParaRPr lang="en-US" sz="1200" dirty="0"/>
          </a:p>
        </p:txBody>
      </p:sp>
      <p:sp>
        <p:nvSpPr>
          <p:cNvPr id="29" name="card 454"/>
          <p:cNvSpPr/>
          <p:nvPr/>
        </p:nvSpPr>
        <p:spPr>
          <a:xfrm>
            <a:off x="8083296" y="365760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icon bg 455"/>
          <p:cNvSpPr/>
          <p:nvPr/>
        </p:nvSpPr>
        <p:spPr>
          <a:xfrm>
            <a:off x="8266176" y="38404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1" name="icon 45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906" y="3966210"/>
            <a:ext cx="251460" cy="251460"/>
          </a:xfrm>
          <a:prstGeom prst="rect">
            <a:avLst/>
          </a:prstGeom>
        </p:spPr>
      </p:pic>
      <p:sp>
        <p:nvSpPr>
          <p:cNvPr id="32" name="text 457"/>
          <p:cNvSpPr txBox="1"/>
          <p:nvPr/>
        </p:nvSpPr>
        <p:spPr>
          <a:xfrm>
            <a:off x="8906256" y="3886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Offline-first mobile view</a:t>
            </a:r>
            <a:endParaRPr lang="en-US" sz="1500" dirty="0"/>
          </a:p>
        </p:txBody>
      </p:sp>
      <p:sp>
        <p:nvSpPr>
          <p:cNvPr id="33" name="text 458"/>
          <p:cNvSpPr txBox="1"/>
          <p:nvPr/>
        </p:nvSpPr>
        <p:spPr>
          <a:xfrm>
            <a:off x="8266176" y="44805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PWA that caches the last fisheries sync for use at sea, where connectivity drops.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Conclusion</a:t>
            </a:r>
            <a:endParaRPr lang="en-US" sz="4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Open ocean data, finally askable.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FloatChat turns a plain question into a validated, read-only SQL query over real ARGO and NOAA data, and answers with evidence: a grounded sentence, a map, a chart, the rows and the SQL.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runs end-to-end on a free 1 GB cloud VM, refreshes its fisheries layer every night, and is honest about what it holds.</a:t>
            </a:r>
            <a:endParaRPr lang="en-US" sz="1600" dirty="0"/>
          </a:p>
        </p:txBody>
      </p:sp>
      <p:sp>
        <p:nvSpPr>
          <p:cNvPr id="4" name="card 459"/>
          <p:cNvSpPr/>
          <p:nvPr/>
        </p:nvSpPr>
        <p:spPr>
          <a:xfrm>
            <a:off x="6858000" y="1371600"/>
            <a:ext cx="475488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icon bg 460"/>
          <p:cNvSpPr/>
          <p:nvPr/>
        </p:nvSpPr>
        <p:spPr>
          <a:xfrm>
            <a:off x="7040880" y="164592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6" name="icon 46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783080"/>
            <a:ext cx="274320" cy="274320"/>
          </a:xfrm>
          <a:prstGeom prst="rect">
            <a:avLst/>
          </a:prstGeom>
        </p:spPr>
      </p:pic>
      <p:sp>
        <p:nvSpPr>
          <p:cNvPr id="7" name="text 462"/>
          <p:cNvSpPr txBox="1"/>
          <p:nvPr/>
        </p:nvSpPr>
        <p:spPr>
          <a:xfrm>
            <a:off x="77724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 by construction</a:t>
            </a:r>
            <a:endParaRPr lang="en-US" sz="1400" dirty="0"/>
          </a:p>
        </p:txBody>
      </p:sp>
      <p:sp>
        <p:nvSpPr>
          <p:cNvPr id="8" name="text 463"/>
          <p:cNvSpPr txBox="1"/>
          <p:nvPr/>
        </p:nvSpPr>
        <p:spPr>
          <a:xfrm>
            <a:off x="7772400" y="1892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AST validation · allow-list · read-only role · timeout · grounding gate</a:t>
            </a:r>
            <a:endParaRPr lang="en-US" sz="1150" dirty="0"/>
          </a:p>
        </p:txBody>
      </p:sp>
      <p:sp>
        <p:nvSpPr>
          <p:cNvPr id="9" name="card 464"/>
          <p:cNvSpPr/>
          <p:nvPr/>
        </p:nvSpPr>
        <p:spPr>
          <a:xfrm>
            <a:off x="6858000" y="2606040"/>
            <a:ext cx="475488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icon bg 465"/>
          <p:cNvSpPr/>
          <p:nvPr/>
        </p:nvSpPr>
        <p:spPr>
          <a:xfrm>
            <a:off x="7040880" y="288036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1" name="icon 4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017520"/>
            <a:ext cx="274320" cy="274320"/>
          </a:xfrm>
          <a:prstGeom prst="rect">
            <a:avLst/>
          </a:prstGeom>
        </p:spPr>
      </p:pic>
      <p:sp>
        <p:nvSpPr>
          <p:cNvPr id="12" name="text 467"/>
          <p:cNvSpPr txBox="1"/>
          <p:nvPr/>
        </p:nvSpPr>
        <p:spPr>
          <a:xfrm>
            <a:off x="77724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Works with or without an LLM</a:t>
            </a:r>
            <a:endParaRPr lang="en-US" sz="1400" dirty="0"/>
          </a:p>
        </p:txBody>
      </p:sp>
      <p:sp>
        <p:nvSpPr>
          <p:cNvPr id="13" name="text 468"/>
          <p:cNvSpPr txBox="1"/>
          <p:nvPr/>
        </p:nvSpPr>
        <p:spPr>
          <a:xfrm>
            <a:off x="7772400" y="31272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rule engine covers the core families; the model only adds fluency</a:t>
            </a:r>
            <a:endParaRPr lang="en-US" sz="1150" dirty="0"/>
          </a:p>
        </p:txBody>
      </p:sp>
      <p:sp>
        <p:nvSpPr>
          <p:cNvPr id="14" name="card 469"/>
          <p:cNvSpPr/>
          <p:nvPr/>
        </p:nvSpPr>
        <p:spPr>
          <a:xfrm>
            <a:off x="6858000" y="3840480"/>
            <a:ext cx="475488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icon bg 470"/>
          <p:cNvSpPr/>
          <p:nvPr/>
        </p:nvSpPr>
        <p:spPr>
          <a:xfrm>
            <a:off x="7040880" y="411480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con 4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251960"/>
            <a:ext cx="274320" cy="274320"/>
          </a:xfrm>
          <a:prstGeom prst="rect">
            <a:avLst/>
          </a:prstGeom>
        </p:spPr>
      </p:pic>
      <p:sp>
        <p:nvSpPr>
          <p:cNvPr id="17" name="text 472"/>
          <p:cNvSpPr txBox="1"/>
          <p:nvPr/>
        </p:nvSpPr>
        <p:spPr>
          <a:xfrm>
            <a:off x="77724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Built for Indian waters</a:t>
            </a:r>
            <a:endParaRPr lang="en-US" sz="1400" dirty="0"/>
          </a:p>
        </p:txBody>
      </p:sp>
      <p:sp>
        <p:nvSpPr>
          <p:cNvPr id="18" name="text 473"/>
          <p:cNvSpPr txBox="1"/>
          <p:nvPr/>
        </p:nvSpPr>
        <p:spPr>
          <a:xfrm>
            <a:off x="7772400" y="4361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Indian-Ocean ARGO pilot · 9 ports · 5 Indian languages · PFZ from NOAA</a:t>
            </a:r>
            <a:endParaRPr lang="en-US" sz="1150" dirty="0"/>
          </a:p>
        </p:txBody>
      </p:sp>
      <p:sp>
        <p:nvSpPr>
          <p:cNvPr id="19" name="card 474"/>
          <p:cNvSpPr/>
          <p:nvPr/>
        </p:nvSpPr>
        <p:spPr>
          <a:xfrm>
            <a:off x="6858000" y="5074920"/>
            <a:ext cx="475488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82000"/>
            </a:schemeClr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icon bg 475"/>
          <p:cNvSpPr/>
          <p:nvPr/>
        </p:nvSpPr>
        <p:spPr>
          <a:xfrm>
            <a:off x="7040880" y="534924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icon 4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5486400"/>
            <a:ext cx="274320" cy="274320"/>
          </a:xfrm>
          <a:prstGeom prst="rect">
            <a:avLst/>
          </a:prstGeom>
        </p:spPr>
      </p:pic>
      <p:sp>
        <p:nvSpPr>
          <p:cNvPr id="22" name="text 477"/>
          <p:cNvSpPr txBox="1"/>
          <p:nvPr/>
        </p:nvSpPr>
        <p:spPr>
          <a:xfrm>
            <a:off x="777240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Try it</a:t>
            </a:r>
            <a:endParaRPr lang="en-US" sz="1400" dirty="0"/>
          </a:p>
        </p:txBody>
      </p:sp>
      <p:sp>
        <p:nvSpPr>
          <p:cNvPr id="23" name="text 478"/>
          <p:cNvSpPr txBox="1"/>
          <p:nvPr/>
        </p:nvSpPr>
        <p:spPr>
          <a:xfrm>
            <a:off x="7772400" y="55961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http://80.225.245.19  ·  github.com/Sharmaditya2k05/Floatchat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atChat Ocean">
  <a:themeElements>
    <a:clrScheme name="FloatChat Ocean">
      <a:dk1>
        <a:srgbClr val="EAF1F7"/>
      </a:dk1>
      <a:lt1>
        <a:srgbClr val="0A1220"/>
      </a:lt1>
      <a:dk2>
        <a:srgbClr val="9FB2C8"/>
      </a:dk2>
      <a:lt2>
        <a:srgbClr val="121F31"/>
      </a:lt2>
      <a:accent1>
        <a:srgbClr val="35E0C0"/>
      </a:accent1>
      <a:accent2>
        <a:srgbClr val="F5B544"/>
      </a:accent2>
      <a:accent3>
        <a:srgbClr val="FF6B6B"/>
      </a:accent3>
      <a:accent4>
        <a:srgbClr val="6FB1FF"/>
      </a:accent4>
      <a:accent5>
        <a:srgbClr val="1E3350"/>
      </a:accent5>
      <a:accent6>
        <a:srgbClr val="17273C"/>
      </a:accent6>
      <a:hlink>
        <a:srgbClr val="35E0C0"/>
      </a:hlink>
      <a:folHlink>
        <a:srgbClr val="9FB2C8"/>
      </a:folHlink>
    </a:clrScheme>
    <a:fontScheme name="FloatChat Ocean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FloatChat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FloatChat — Project Presentation</dc:title>
  <dc:subject>PptxGenJS Presentation</dc:subject>
  <dc:creator>Aditya Sharma</dc:creator>
  <cp:lastModifiedBy>Aditya Sharma</cp:lastModifiedBy>
  <cp:revision>1</cp:revision>
  <dcterms:created xsi:type="dcterms:W3CDTF">2026-10-15T13:59:34Z</dcterms:created>
  <dcterms:modified xsi:type="dcterms:W3CDTF">2026-10-15T13:59:34Z</dcterms:modified>
</cp:coreProperties>
</file>